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66" r:id="rId3"/>
    <p:sldId id="279" r:id="rId4"/>
    <p:sldId id="287" r:id="rId5"/>
    <p:sldId id="281" r:id="rId6"/>
    <p:sldId id="267" r:id="rId7"/>
    <p:sldId id="271" r:id="rId8"/>
    <p:sldId id="276" r:id="rId9"/>
    <p:sldId id="285" r:id="rId10"/>
    <p:sldId id="288" r:id="rId11"/>
    <p:sldId id="286" r:id="rId12"/>
    <p:sldId id="282" r:id="rId13"/>
    <p:sldId id="283" r:id="rId14"/>
    <p:sldId id="284" r:id="rId15"/>
    <p:sldId id="278" r:id="rId16"/>
    <p:sldId id="280" r:id="rId17"/>
    <p:sldId id="274" r:id="rId18"/>
    <p:sldId id="275" r:id="rId1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D"/>
    <a:srgbClr val="AAAAAA"/>
    <a:srgbClr val="0C9AB9"/>
    <a:srgbClr val="FFCD00"/>
    <a:srgbClr val="FFD004"/>
    <a:srgbClr val="2D4FFF"/>
    <a:srgbClr val="E6E6E6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26"/>
    <p:restoredTop sz="96274"/>
  </p:normalViewPr>
  <p:slideViewPr>
    <p:cSldViewPr snapToGrid="0" snapToObjects="1">
      <p:cViewPr varScale="1">
        <p:scale>
          <a:sx n="137" d="100"/>
          <a:sy n="137" d="100"/>
        </p:scale>
        <p:origin x="19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61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441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1476E0AB-A8D1-CEFE-A0BB-8EE407FB24CE}"/>
              </a:ext>
            </a:extLst>
          </p:cNvPr>
          <p:cNvSpPr/>
          <p:nvPr userDrawn="1"/>
        </p:nvSpPr>
        <p:spPr>
          <a:xfrm>
            <a:off x="5927075" y="-286441"/>
            <a:ext cx="1206347" cy="55084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36000" rtlCol="0" anchor="b"/>
          <a:lstStyle/>
          <a:p>
            <a:pPr algn="l"/>
            <a:r>
              <a:rPr kumimoji="1" lang="ko-Kore-KR" altLang="en-US" sz="1200" b="0" i="0">
                <a:ln>
                  <a:noFill/>
                </a:ln>
                <a:solidFill>
                  <a:schemeClr val="bg1"/>
                </a:solidFill>
                <a:latin typeface="KakaoBig OTF" pitchFamily="2" charset="-127"/>
                <a:ea typeface="KakaoBig OTF" pitchFamily="2" charset="-127"/>
              </a:rPr>
              <a:t>혁신</a:t>
            </a:r>
          </a:p>
        </p:txBody>
      </p:sp>
    </p:spTree>
    <p:extLst>
      <p:ext uri="{BB962C8B-B14F-4D97-AF65-F5344CB8AC3E}">
        <p14:creationId xmlns:p14="http://schemas.microsoft.com/office/powerpoint/2010/main" val="74755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E039C9B-CF84-D37C-EDDB-261E0131C6F8}"/>
              </a:ext>
            </a:extLst>
          </p:cNvPr>
          <p:cNvSpPr/>
          <p:nvPr userDrawn="1"/>
        </p:nvSpPr>
        <p:spPr>
          <a:xfrm>
            <a:off x="5927075" y="-286441"/>
            <a:ext cx="1206347" cy="550845"/>
          </a:xfrm>
          <a:prstGeom prst="roundRect">
            <a:avLst/>
          </a:prstGeom>
          <a:solidFill>
            <a:srgbClr val="2D4FF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36000" rtlCol="0" anchor="b"/>
          <a:lstStyle/>
          <a:p>
            <a:pPr algn="l"/>
            <a:r>
              <a:rPr kumimoji="1" lang="ko-Kore-KR" altLang="en-US" sz="1200" b="0" i="0">
                <a:latin typeface="KakaoBig OTF" pitchFamily="2" charset="-127"/>
                <a:ea typeface="KakaoBig OTF" pitchFamily="2" charset="-127"/>
              </a:rPr>
              <a:t>전문성</a:t>
            </a:r>
          </a:p>
        </p:txBody>
      </p:sp>
    </p:spTree>
    <p:extLst>
      <p:ext uri="{BB962C8B-B14F-4D97-AF65-F5344CB8AC3E}">
        <p14:creationId xmlns:p14="http://schemas.microsoft.com/office/powerpoint/2010/main" val="310218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57608BDF-01FF-4DCD-6A4E-CEF3E8D758E3}"/>
              </a:ext>
            </a:extLst>
          </p:cNvPr>
          <p:cNvSpPr/>
          <p:nvPr userDrawn="1"/>
        </p:nvSpPr>
        <p:spPr>
          <a:xfrm>
            <a:off x="5927075" y="-286441"/>
            <a:ext cx="1206347" cy="550845"/>
          </a:xfrm>
          <a:prstGeom prst="roundRect">
            <a:avLst/>
          </a:prstGeom>
          <a:solidFill>
            <a:srgbClr val="0C9AB9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36000" rtlCol="0" anchor="b"/>
          <a:lstStyle/>
          <a:p>
            <a:pPr algn="l"/>
            <a:r>
              <a:rPr kumimoji="1" lang="ko-Kore-KR" altLang="en-US" sz="1200" b="0" i="0">
                <a:ln>
                  <a:noFill/>
                </a:ln>
                <a:solidFill>
                  <a:schemeClr val="bg1"/>
                </a:solidFill>
                <a:latin typeface="KakaoBig OTF" pitchFamily="2" charset="-127"/>
                <a:ea typeface="KakaoBig OTF" pitchFamily="2" charset="-127"/>
              </a:rPr>
              <a:t>영향력</a:t>
            </a:r>
          </a:p>
        </p:txBody>
      </p:sp>
    </p:spTree>
    <p:extLst>
      <p:ext uri="{BB962C8B-B14F-4D97-AF65-F5344CB8AC3E}">
        <p14:creationId xmlns:p14="http://schemas.microsoft.com/office/powerpoint/2010/main" val="1744431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493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753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B804D-A77C-2CC7-90BF-0AA814A2988A}"/>
              </a:ext>
            </a:extLst>
          </p:cNvPr>
          <p:cNvSpPr txBox="1"/>
          <p:nvPr userDrawn="1"/>
        </p:nvSpPr>
        <p:spPr>
          <a:xfrm>
            <a:off x="3132283" y="9617728"/>
            <a:ext cx="593432" cy="246221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fld id="{92DFE80F-9D39-A74E-A68E-AACD5F85D6E3}" type="slidenum">
              <a:rPr kumimoji="1" lang="en-US" altLang="ko-Kore-KR" sz="1000" b="0" i="0" smtClean="0">
                <a:solidFill>
                  <a:srgbClr val="4D4D4D"/>
                </a:solidFill>
                <a:latin typeface="KakaoBig OTF" pitchFamily="2" charset="-127"/>
                <a:ea typeface="KakaoBig OTF" pitchFamily="2" charset="-127"/>
              </a:rPr>
              <a:pPr algn="ctr"/>
              <a:t>‹#›</a:t>
            </a:fld>
            <a:r>
              <a:rPr kumimoji="1" lang="ko-KR" altLang="en-US" sz="1000" b="0" i="0" dirty="0">
                <a:solidFill>
                  <a:srgbClr val="4D4D4D"/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1000" b="0" i="0" dirty="0">
                <a:solidFill>
                  <a:srgbClr val="4D4D4D"/>
                </a:solidFill>
                <a:latin typeface="KakaoBig OTF" pitchFamily="2" charset="-127"/>
                <a:ea typeface="KakaoBig OTF" pitchFamily="2" charset="-127"/>
              </a:rPr>
              <a:t>/</a:t>
            </a:r>
            <a:r>
              <a:rPr kumimoji="1" lang="ko-KR" altLang="en-US" sz="1000" b="0" i="0" dirty="0">
                <a:solidFill>
                  <a:srgbClr val="4D4D4D"/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1000" b="0" i="0" dirty="0">
                <a:solidFill>
                  <a:srgbClr val="4D4D4D"/>
                </a:solidFill>
                <a:latin typeface="KakaoBig OTF" pitchFamily="2" charset="-127"/>
                <a:ea typeface="KakaoBig OTF" pitchFamily="2" charset="-127"/>
              </a:rPr>
              <a:t>9</a:t>
            </a:r>
            <a:endParaRPr kumimoji="1" lang="ko-Kore-KR" altLang="en-US" sz="1000" b="0" i="0">
              <a:solidFill>
                <a:srgbClr val="4D4D4D"/>
              </a:solidFill>
              <a:latin typeface="KakaoBig OTF" pitchFamily="2" charset="-127"/>
              <a:ea typeface="KakaoBig O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845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0CED-88F8-E946-AB63-89636DE2DA8E}" type="datetimeFigureOut">
              <a:rPr kumimoji="1" lang="ko-Kore-KR" altLang="en-US" smtClean="0"/>
              <a:t>4/6/26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9E395-4523-0245-A1EA-625C928DC52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295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E97FB0-C3F3-E5FA-080D-001F4137775E}"/>
              </a:ext>
            </a:extLst>
          </p:cNvPr>
          <p:cNvSpPr txBox="1"/>
          <p:nvPr/>
        </p:nvSpPr>
        <p:spPr>
          <a:xfrm>
            <a:off x="514912" y="536688"/>
            <a:ext cx="156324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kumimoji="1" lang="ko-KR" altLang="en-US" sz="2400" b="1" dirty="0">
                <a:latin typeface="KakaoBig OTF Bold" pitchFamily="2" charset="-127"/>
                <a:ea typeface="KakaoBig OTF Bold" pitchFamily="2" charset="-127"/>
              </a:rPr>
              <a:t>경력기술서</a:t>
            </a:r>
            <a:endParaRPr kumimoji="1" lang="ko-Kore-KR" altLang="en-US" sz="2400" b="1">
              <a:latin typeface="KakaoBig OTF Bold" pitchFamily="2" charset="-127"/>
              <a:ea typeface="KakaoBig OTF Bold" pitchFamily="2" charset="-127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A832F48-A0B1-F67E-8957-83812E941194}"/>
              </a:ext>
            </a:extLst>
          </p:cNvPr>
          <p:cNvGrpSpPr/>
          <p:nvPr/>
        </p:nvGrpSpPr>
        <p:grpSpPr>
          <a:xfrm>
            <a:off x="426051" y="1114001"/>
            <a:ext cx="6005899" cy="0"/>
            <a:chOff x="401444" y="1929163"/>
            <a:chExt cx="6005899" cy="0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DACF6E28-8B79-543A-B94A-4A725BCA6FB0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0DB5B6A9-4862-7452-A56D-00B9D747465E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표 14">
            <a:extLst>
              <a:ext uri="{FF2B5EF4-FFF2-40B4-BE49-F238E27FC236}">
                <a16:creationId xmlns:a16="http://schemas.microsoft.com/office/drawing/2014/main" id="{C940FD0C-2537-B95E-1A72-D845149A0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222408"/>
              </p:ext>
            </p:extLst>
          </p:nvPr>
        </p:nvGraphicFramePr>
        <p:xfrm>
          <a:off x="2003950" y="1162740"/>
          <a:ext cx="4339138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1055">
                  <a:extLst>
                    <a:ext uri="{9D8B030D-6E8A-4147-A177-3AD203B41FA5}">
                      <a16:colId xmlns:a16="http://schemas.microsoft.com/office/drawing/2014/main" val="360871152"/>
                    </a:ext>
                  </a:extLst>
                </a:gridCol>
                <a:gridCol w="3098083">
                  <a:extLst>
                    <a:ext uri="{9D8B030D-6E8A-4147-A177-3AD203B41FA5}">
                      <a16:colId xmlns:a16="http://schemas.microsoft.com/office/drawing/2014/main" val="1346598934"/>
                    </a:ext>
                  </a:extLst>
                </a:gridCol>
              </a:tblGrid>
              <a:tr h="233548">
                <a:tc>
                  <a:txBody>
                    <a:bodyPr/>
                    <a:lstStyle/>
                    <a:p>
                      <a:r>
                        <a:rPr lang="ko-Kore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신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경 수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375766"/>
                  </a:ext>
                </a:extLst>
              </a:tr>
              <a:tr h="233548"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생년월일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1981.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3.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18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남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기혼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274931"/>
                  </a:ext>
                </a:extLst>
              </a:tr>
              <a:tr h="233548"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주소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경기도 수원시 권선구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885932"/>
                  </a:ext>
                </a:extLst>
              </a:tr>
              <a:tr h="233548">
                <a:tc>
                  <a:txBody>
                    <a:bodyPr/>
                    <a:lstStyle/>
                    <a:p>
                      <a:r>
                        <a:rPr lang="ko-Kore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현재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스테이지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Senior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Manager/Lead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8571"/>
                  </a:ext>
                </a:extLst>
              </a:tr>
              <a:tr h="544946">
                <a:tc>
                  <a:txBody>
                    <a:bodyPr/>
                    <a:lstStyle/>
                    <a:p>
                      <a:r>
                        <a:rPr lang="ko-Kore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주요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담당 업무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광고사업부문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유닛 리더 및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업무 진행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구글 모바일스토어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관리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차 인터뷰어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022443"/>
                  </a:ext>
                </a:extLst>
              </a:tr>
              <a:tr h="233548">
                <a:tc>
                  <a:txBody>
                    <a:bodyPr/>
                    <a:lstStyle/>
                    <a:p>
                      <a:r>
                        <a:rPr lang="ko-Kore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직무</a:t>
                      </a:r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스킬셋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65868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4FDC4B95-55C7-86DF-6C23-73B6056D4E67}"/>
              </a:ext>
            </a:extLst>
          </p:cNvPr>
          <p:cNvGrpSpPr/>
          <p:nvPr/>
        </p:nvGrpSpPr>
        <p:grpSpPr>
          <a:xfrm>
            <a:off x="426051" y="3534100"/>
            <a:ext cx="6005899" cy="0"/>
            <a:chOff x="401444" y="1929163"/>
            <a:chExt cx="6005899" cy="0"/>
          </a:xfrm>
        </p:grpSpPr>
        <p:cxnSp>
          <p:nvCxnSpPr>
            <p:cNvPr id="16" name="직선 연결선[R] 15">
              <a:extLst>
                <a:ext uri="{FF2B5EF4-FFF2-40B4-BE49-F238E27FC236}">
                  <a16:creationId xmlns:a16="http://schemas.microsoft.com/office/drawing/2014/main" id="{39569500-95F2-28AE-5BDC-E10457441CC3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[R] 16">
              <a:extLst>
                <a:ext uri="{FF2B5EF4-FFF2-40B4-BE49-F238E27FC236}">
                  <a16:creationId xmlns:a16="http://schemas.microsoft.com/office/drawing/2014/main" id="{34136771-05CB-ABC4-1622-579CC48C6DE4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2C41E3D-FE8A-273C-400B-2E9692AB3CD4}"/>
              </a:ext>
            </a:extLst>
          </p:cNvPr>
          <p:cNvSpPr txBox="1"/>
          <p:nvPr/>
        </p:nvSpPr>
        <p:spPr>
          <a:xfrm>
            <a:off x="514912" y="1147351"/>
            <a:ext cx="1023037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ko-Kore-KR" altLang="en-US" sz="1400" b="1">
                <a:latin typeface="KakaoBig OTF Bold" pitchFamily="2" charset="-127"/>
                <a:ea typeface="KakaoBig OTF Bold" pitchFamily="2" charset="-127"/>
              </a:rPr>
              <a:t>신청자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정보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2DCF12-E218-1A4F-F448-E258B617F96D}"/>
              </a:ext>
            </a:extLst>
          </p:cNvPr>
          <p:cNvSpPr txBox="1"/>
          <p:nvPr/>
        </p:nvSpPr>
        <p:spPr>
          <a:xfrm>
            <a:off x="514912" y="3560315"/>
            <a:ext cx="862737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 역량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D17E6B-0DF5-94D9-EEAC-0D4ACF1698A4}"/>
              </a:ext>
            </a:extLst>
          </p:cNvPr>
          <p:cNvSpPr txBox="1"/>
          <p:nvPr/>
        </p:nvSpPr>
        <p:spPr>
          <a:xfrm>
            <a:off x="2003950" y="3560315"/>
            <a:ext cx="4574403" cy="2492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전문 기술</a:t>
            </a:r>
            <a:endParaRPr kumimoji="1" lang="en-US" altLang="ko-KR" sz="1200" b="1" dirty="0">
              <a:latin typeface="KakaoBig OTF Bold" pitchFamily="2" charset="-127"/>
              <a:ea typeface="KakaoBig OTF Bold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SW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프로세스 수립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및 개선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서비스 특성에 따른 테스팅 방법 적용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API/UI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테스트자동화 등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QA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업무에 필요한 지식과 다양한 경험 보유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경험과 지식을 바탕으로 주어진 문제에 대한 리스크 및 적합한 해결방안 도출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algn="l"/>
            <a:endParaRPr kumimoji="1" lang="en-US" altLang="ko-KR" sz="1200" dirty="0">
              <a:solidFill>
                <a:srgbClr val="000000"/>
              </a:solidFill>
              <a:latin typeface="Roboto" panose="02000000000000000000" pitchFamily="2" charset="0"/>
              <a:ea typeface="KakaoBig OTF" pitchFamily="2" charset="-127"/>
            </a:endParaRPr>
          </a:p>
          <a:p>
            <a:pPr algn="l"/>
            <a:r>
              <a:rPr kumimoji="1" lang="ko-KR" altLang="en-US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관리</a:t>
            </a:r>
            <a:endParaRPr kumimoji="1" lang="en-US" altLang="ko-KR" sz="1200" b="1" dirty="0">
              <a:solidFill>
                <a:srgbClr val="000000"/>
              </a:solidFill>
              <a:latin typeface="KakaoBig OTF Bold" pitchFamily="2" charset="-127"/>
              <a:ea typeface="KakaoBig OTF Bold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유닛</a:t>
            </a:r>
            <a:r>
              <a:rPr lang="en-US" altLang="ko-KR" sz="1200" baseline="300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1)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리더 및 인터뷰어로서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유닛 내 주니어 케어 및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프로젝트 관리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,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 </a:t>
            </a:r>
            <a:r>
              <a:rPr lang="en" altLang="ko-Kore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QA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스케줄링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리소스 관리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인재 영입 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담당</a:t>
            </a:r>
            <a:endParaRPr lang="en-US" altLang="ko-KR" sz="1200" dirty="0">
              <a:solidFill>
                <a:srgbClr val="000000"/>
              </a:solidFill>
              <a:latin typeface="KakaoBig OTF" pitchFamily="2" charset="-127"/>
              <a:ea typeface="KakaoBig OTF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검증원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역량 강화를 위한 마스터 교육 강사 진행 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한국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미국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인도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현지 검증 조직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Setup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을 위한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Test Process, Test Framework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구축 및 </a:t>
            </a:r>
            <a:r>
              <a:rPr lang="ko-KR" altLang="en-US" sz="1200" dirty="0" err="1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검증원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 교육 진행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이스라엘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40CBA-ED7D-9065-E372-E24F7DE86079}"/>
              </a:ext>
            </a:extLst>
          </p:cNvPr>
          <p:cNvSpPr txBox="1"/>
          <p:nvPr/>
        </p:nvSpPr>
        <p:spPr>
          <a:xfrm>
            <a:off x="426051" y="9499036"/>
            <a:ext cx="60800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1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)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서비스 목적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,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도메인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업무 볼륨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,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클라이언트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,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이터레이션 등을 고려하여 그룹화한  파트 내 업무 체제</a:t>
            </a:r>
            <a:endParaRPr kumimoji="1" lang="en-US" altLang="ko-KR" sz="900" dirty="0">
              <a:solidFill>
                <a:schemeClr val="tx1">
                  <a:lumMod val="50000"/>
                  <a:lumOff val="50000"/>
                </a:schemeClr>
              </a:solidFill>
              <a:latin typeface="KakaoBig OTF" pitchFamily="2" charset="-127"/>
              <a:ea typeface="KakaoBig OTF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A5DF675-70C1-BDD2-52C8-1EB71048787F}"/>
              </a:ext>
            </a:extLst>
          </p:cNvPr>
          <p:cNvGrpSpPr/>
          <p:nvPr/>
        </p:nvGrpSpPr>
        <p:grpSpPr>
          <a:xfrm>
            <a:off x="426051" y="6632845"/>
            <a:ext cx="6005899" cy="0"/>
            <a:chOff x="401444" y="1929163"/>
            <a:chExt cx="6005899" cy="0"/>
          </a:xfrm>
        </p:grpSpPr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CD40367D-792D-2D35-7F47-2F5CE45E88B4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[R] 19">
              <a:extLst>
                <a:ext uri="{FF2B5EF4-FFF2-40B4-BE49-F238E27FC236}">
                  <a16:creationId xmlns:a16="http://schemas.microsoft.com/office/drawing/2014/main" id="{83737943-7CE9-8400-5B5A-E39741A89122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ACBF5B5-5493-46D9-272F-5A6BE3D28701}"/>
              </a:ext>
            </a:extLst>
          </p:cNvPr>
          <p:cNvSpPr txBox="1"/>
          <p:nvPr/>
        </p:nvSpPr>
        <p:spPr>
          <a:xfrm>
            <a:off x="514912" y="6659060"/>
            <a:ext cx="505267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강점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2C68DC-3CDD-390A-F3EE-106FEBDDFD60}"/>
              </a:ext>
            </a:extLst>
          </p:cNvPr>
          <p:cNvSpPr txBox="1"/>
          <p:nvPr/>
        </p:nvSpPr>
        <p:spPr>
          <a:xfrm>
            <a:off x="2003950" y="6659060"/>
            <a:ext cx="4654302" cy="2492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신모델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/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전사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QA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프로세스 수립 및 관리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신기능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/</a:t>
            </a:r>
            <a:r>
              <a:rPr kumimoji="1" lang="ko-KR" altLang="en-US" sz="1200" dirty="0" err="1">
                <a:latin typeface="KakaoBig OTF" pitchFamily="2" charset="-127"/>
                <a:ea typeface="KakaoBig OTF" pitchFamily="2" charset="-127"/>
              </a:rPr>
              <a:t>변경점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 관련 테스트 케이스 및 테스트 시나리오 작성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,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관리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Open API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 테스트 프로세스 신규 구축 및 실행 경험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(Postman)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자동화 테스트 도입 및 관리 경험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(Python, Selenium)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프로젝트 단계별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SW QA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매니저로서 주도적 업무 수행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유관 부서 및 조직과의 유기적인 커뮤니케이션 진행 경험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신모델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SW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품질보증 모델 리더 경험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(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Nexus4, G Watch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등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Global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검증 조직 교육 및 테스트 프로세스 개선 경험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Google Nexus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및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Google Watch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프로젝트 주도적 진행 및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SW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안정화 경험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어학연수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(1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년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)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및 출장 업무를 통한 해외 경험 및 글로벌 커뮤니케이션 능력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(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해외 출장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: 11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회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160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EFCFDCAF-2C84-2509-B26D-947E64401EC4}"/>
              </a:ext>
            </a:extLst>
          </p:cNvPr>
          <p:cNvGrpSpPr/>
          <p:nvPr/>
        </p:nvGrpSpPr>
        <p:grpSpPr>
          <a:xfrm>
            <a:off x="426051" y="499464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B9BD0DED-96AD-B3B7-DDDA-1FA8B439B72B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76AEA85B-9BE3-D68F-9CBB-C667F3FEDD4F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454682-6D5D-8FBB-B60F-799D1F20D629}"/>
              </a:ext>
            </a:extLst>
          </p:cNvPr>
          <p:cNvSpPr txBox="1"/>
          <p:nvPr/>
        </p:nvSpPr>
        <p:spPr>
          <a:xfrm>
            <a:off x="514912" y="525679"/>
            <a:ext cx="862737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핵심 성과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02426-5AC3-95BB-7359-37C97BB66F6B}"/>
              </a:ext>
            </a:extLst>
          </p:cNvPr>
          <p:cNvSpPr txBox="1"/>
          <p:nvPr/>
        </p:nvSpPr>
        <p:spPr>
          <a:xfrm>
            <a:off x="2003950" y="525679"/>
            <a:ext cx="4654302" cy="32316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kumimoji="1" lang="ko-KR" altLang="en-US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광고플랫폼 통합 및 기능</a:t>
            </a:r>
            <a:r>
              <a:rPr kumimoji="1" lang="en-US" altLang="ko-KR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ko-KR" altLang="en-US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개선</a:t>
            </a:r>
            <a:r>
              <a:rPr kumimoji="1" lang="en-US" altLang="ko-KR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ko-KR" altLang="en-US" sz="1200" b="1" dirty="0">
                <a:solidFill>
                  <a:srgbClr val="000000"/>
                </a:solidFill>
                <a:latin typeface="KakaoBig OTF Bold" pitchFamily="2" charset="-127"/>
                <a:ea typeface="KakaoBig OTF Bold" pitchFamily="2" charset="-127"/>
              </a:rPr>
              <a:t>등 정기 이터레이션을 통한 광고플랫폼 품질향상 및 플랫폼 안정화 기여</a:t>
            </a:r>
            <a:endParaRPr kumimoji="1" lang="en-US" altLang="ko-KR" sz="1200" b="1" dirty="0">
              <a:solidFill>
                <a:srgbClr val="000000"/>
              </a:solidFill>
              <a:latin typeface="KakaoBig OTF Bold" pitchFamily="2" charset="-127"/>
              <a:ea typeface="KakaoBig OTF Bold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DSP</a:t>
            </a:r>
            <a:r>
              <a:rPr lang="en-US" altLang="ko-KR" sz="1200" baseline="300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1</a:t>
            </a:r>
            <a:r>
              <a:rPr lang="en-US" altLang="ko-KR" sz="1200" baseline="300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)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전체구조 개편 </a:t>
            </a:r>
            <a:r>
              <a:rPr lang="en-US" altLang="ko-KR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Full TC</a:t>
            </a:r>
            <a:r>
              <a:rPr lang="ko-KR" altLang="en-US" sz="1200" dirty="0">
                <a:solidFill>
                  <a:srgbClr val="000000"/>
                </a:solidFill>
                <a:effectLst/>
                <a:latin typeface="KakaoBig OTF" pitchFamily="2" charset="-127"/>
                <a:ea typeface="KakaoBig OTF" pitchFamily="2" charset="-127"/>
              </a:rPr>
              <a:t> 부분 설계 및 성능 테스트 지표 수립</a:t>
            </a:r>
            <a:endParaRPr lang="en-US" altLang="ko-KR" sz="1200" dirty="0">
              <a:solidFill>
                <a:srgbClr val="000000"/>
              </a:solidFill>
              <a:effectLst/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FOKA</a:t>
            </a:r>
            <a:r>
              <a:rPr lang="en-US" altLang="ko-KR" sz="1200" baseline="300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2)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신규오픈 품질 커버리지 정립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,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 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Full TC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설계</a:t>
            </a:r>
            <a:endParaRPr lang="en-US" altLang="ko-KR" sz="1200" dirty="0">
              <a:solidFill>
                <a:srgbClr val="000000"/>
              </a:solidFill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카카오비즈니스센터 통합가입 오픈 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Full TC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및 서비스별 케이스 매트릭스</a:t>
            </a:r>
            <a:r>
              <a:rPr lang="en-US" altLang="ko-KR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,</a:t>
            </a:r>
            <a:r>
              <a:rPr lang="ko-KR" altLang="en-US" sz="1200" dirty="0">
                <a:solidFill>
                  <a:srgbClr val="000000"/>
                </a:solidFill>
                <a:latin typeface="KakaoBig OTF" pitchFamily="2" charset="-127"/>
                <a:ea typeface="KakaoBig OTF" pitchFamily="2" charset="-127"/>
              </a:rPr>
              <a:t> 상태전이 테스트 항목 설계</a:t>
            </a:r>
            <a:endParaRPr kumimoji="1" lang="en-US" altLang="ko-KR" sz="1200" dirty="0">
              <a:solidFill>
                <a:srgbClr val="000000"/>
              </a:solidFill>
              <a:latin typeface="KakaoBig OTF" pitchFamily="2" charset="-127"/>
              <a:ea typeface="KakaoBig OTF" pitchFamily="2" charset="-127"/>
            </a:endParaRPr>
          </a:p>
          <a:p>
            <a:pPr algn="l"/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algn="l"/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광고플랫폼 </a:t>
            </a:r>
            <a:r>
              <a:rPr kumimoji="1" lang="en" altLang="ko-KR" sz="1200" b="1" dirty="0">
                <a:latin typeface="KakaoBig OTF Bold" pitchFamily="2" charset="-127"/>
                <a:ea typeface="KakaoBig OTF Bold" pitchFamily="2" charset="-127"/>
              </a:rPr>
              <a:t>QA 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커버리지 강화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–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en" altLang="ko-KR" sz="1200" b="1" dirty="0">
                <a:latin typeface="KakaoBig OTF Bold" pitchFamily="2" charset="-127"/>
                <a:ea typeface="KakaoBig OTF Bold" pitchFamily="2" charset="-127"/>
              </a:rPr>
              <a:t>BAT</a:t>
            </a:r>
            <a:r>
              <a:rPr kumimoji="1" lang="en-US" altLang="ko-KR" sz="1200" b="1" baseline="30000" dirty="0">
                <a:latin typeface="KakaoBig OTF Bold" pitchFamily="2" charset="-127"/>
                <a:ea typeface="KakaoBig OTF Bold" pitchFamily="2" charset="-127"/>
              </a:rPr>
              <a:t>3)</a:t>
            </a:r>
            <a:r>
              <a:rPr kumimoji="1" lang="en" altLang="ko-KR" sz="1200" b="1" dirty="0">
                <a:latin typeface="KakaoBig OTF Bold" pitchFamily="2" charset="-127"/>
                <a:ea typeface="KakaoBig OTF Bold" pitchFamily="2" charset="-127"/>
              </a:rPr>
              <a:t>, Open API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카카오모먼트 </a:t>
            </a:r>
            <a:r>
              <a:rPr kumimoji="1" lang="en" altLang="ko-KR" sz="1200" dirty="0">
                <a:latin typeface="KakaoBig OTF" pitchFamily="2" charset="-127"/>
                <a:ea typeface="KakaoBig OTF" pitchFamily="2" charset="-127"/>
              </a:rPr>
              <a:t>BAT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자동화 및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Open API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테스트 프로세스 수립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이터레이션 진행 시 과제 외 범위 리그레션 이슈 및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API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관련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엣지 케이스 도출로 품질 안정화 기여</a:t>
            </a:r>
            <a:endParaRPr lang="en-US" altLang="ko-KR" sz="1200" dirty="0">
              <a:solidFill>
                <a:srgbClr val="000000"/>
              </a:solidFill>
              <a:effectLst/>
              <a:latin typeface="KakaoBig OTF" pitchFamily="2" charset="-127"/>
              <a:ea typeface="KakaoBig OTF" pitchFamily="2" charset="-127"/>
            </a:endParaRPr>
          </a:p>
          <a:p>
            <a:pPr algn="l"/>
            <a:endParaRPr kumimoji="1" lang="en-US" altLang="ko-KR" sz="1200" dirty="0">
              <a:solidFill>
                <a:srgbClr val="000000"/>
              </a:solidFill>
              <a:latin typeface="Roboto" panose="02000000000000000000" pitchFamily="2" charset="0"/>
              <a:ea typeface="KakaoBig OTF" pitchFamily="2" charset="-127"/>
            </a:endParaRPr>
          </a:p>
          <a:p>
            <a:pPr algn="l"/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 오픈 프로세스 수립</a:t>
            </a:r>
            <a:endParaRPr kumimoji="1" lang="en-US" altLang="ko-KR" sz="900" b="1" dirty="0">
              <a:latin typeface="KakaoBig OTF Bold" pitchFamily="2" charset="-127"/>
              <a:ea typeface="KakaoBig OTF Bold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카카오 서비스의 신규 오픈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,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전체 개편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,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변경 배포에 필요한 절차 수립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리스크를 사전에 예방하고 완성도 높은 서비스를 만들기 위한 전반적인 활동 가이드 마련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QA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역할과 책임 범위를 명확하게 하기 위한 품질 </a:t>
            </a:r>
            <a:r>
              <a:rPr kumimoji="1" lang="en-US" altLang="ko-KR" sz="1200" dirty="0">
                <a:latin typeface="KakaoBig OTF" pitchFamily="2" charset="-127"/>
                <a:ea typeface="KakaoBig OTF" pitchFamily="2" charset="-127"/>
              </a:rPr>
              <a:t>SignOff </a:t>
            </a:r>
            <a:r>
              <a:rPr kumimoji="1" lang="ko-KR" altLang="en-US" sz="1200" dirty="0">
                <a:latin typeface="KakaoBig OTF" pitchFamily="2" charset="-127"/>
                <a:ea typeface="KakaoBig OTF" pitchFamily="2" charset="-127"/>
              </a:rPr>
              <a:t>가이드  정립</a:t>
            </a:r>
            <a:endParaRPr kumimoji="1" lang="en-US" altLang="ko-KR" sz="1200" dirty="0">
              <a:latin typeface="KakaoBig OTF" pitchFamily="2" charset="-127"/>
              <a:ea typeface="KakaoBig OTF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4571C-D79B-E0EA-98A8-7C235BB04ACD}"/>
              </a:ext>
            </a:extLst>
          </p:cNvPr>
          <p:cNvSpPr txBox="1"/>
          <p:nvPr/>
        </p:nvSpPr>
        <p:spPr>
          <a:xfrm>
            <a:off x="426051" y="9429786"/>
            <a:ext cx="60800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1)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Demand Side Platform.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광고주 측면 광고플랫폼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|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2)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신 키워드광고 플랫폼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|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3) Build Acceptance Test. QA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진행 시 리그레션 테스트 자동화</a:t>
            </a:r>
            <a:endParaRPr kumimoji="1" lang="en-US" altLang="ko-KR" sz="900" dirty="0">
              <a:solidFill>
                <a:schemeClr val="tx1">
                  <a:lumMod val="50000"/>
                  <a:lumOff val="50000"/>
                </a:schemeClr>
              </a:solidFill>
              <a:latin typeface="KakaoBig OTF" pitchFamily="2" charset="-127"/>
              <a:ea typeface="KakaoBig OTF" pitchFamily="2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846AEF7-5C17-B0FD-B94E-731F48DDA820}"/>
              </a:ext>
            </a:extLst>
          </p:cNvPr>
          <p:cNvGrpSpPr/>
          <p:nvPr/>
        </p:nvGrpSpPr>
        <p:grpSpPr>
          <a:xfrm>
            <a:off x="426051" y="4862215"/>
            <a:ext cx="6005899" cy="0"/>
            <a:chOff x="401444" y="1929163"/>
            <a:chExt cx="6005899" cy="0"/>
          </a:xfrm>
        </p:grpSpPr>
        <p:cxnSp>
          <p:nvCxnSpPr>
            <p:cNvPr id="16" name="직선 연결선[R] 15">
              <a:extLst>
                <a:ext uri="{FF2B5EF4-FFF2-40B4-BE49-F238E27FC236}">
                  <a16:creationId xmlns:a16="http://schemas.microsoft.com/office/drawing/2014/main" id="{E4F4AE1F-3197-3177-AA81-1BAFBAB91500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[R] 16">
              <a:extLst>
                <a:ext uri="{FF2B5EF4-FFF2-40B4-BE49-F238E27FC236}">
                  <a16:creationId xmlns:a16="http://schemas.microsoft.com/office/drawing/2014/main" id="{8C25E5B2-3686-0B82-1A66-3A36521B6F06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E54BEC9-687B-90F7-F618-CBF0EB09377B}"/>
              </a:ext>
            </a:extLst>
          </p:cNvPr>
          <p:cNvSpPr txBox="1"/>
          <p:nvPr/>
        </p:nvSpPr>
        <p:spPr>
          <a:xfrm>
            <a:off x="1989529" y="4947124"/>
            <a:ext cx="274947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카카오모먼트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BAT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프로세스 도입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9" name="표 5">
            <a:extLst>
              <a:ext uri="{FF2B5EF4-FFF2-40B4-BE49-F238E27FC236}">
                <a16:creationId xmlns:a16="http://schemas.microsoft.com/office/drawing/2014/main" id="{37871769-FFEE-34D8-B537-ACF3B764E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79070"/>
              </p:ext>
            </p:extLst>
          </p:nvPr>
        </p:nvGraphicFramePr>
        <p:xfrm>
          <a:off x="1989529" y="5347681"/>
          <a:ext cx="4442421" cy="3596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65555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12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2021.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10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65555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65555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리더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91779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과제 외 범위의 리그레션 테스트 효율성을 높이기 위해 자동화 적용 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BAT(Build Acceptance Test) 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 도입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구성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사용언어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Python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라이브러리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Selenium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소스코드 관리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깃헙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실행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젠킨스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자동화 툴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언어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코드 관리 방법 논의 및 스크립트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자동화 툴 셋업 및 테스트 과정 파일럿 진행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BAT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프로세스 정립 논의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(w/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기획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개발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대시보드 개편 이후 코드 유지보수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’21.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정식 프로세스 도입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F2A73C4-EA14-0AD4-877A-9C72F9E0141A}"/>
              </a:ext>
            </a:extLst>
          </p:cNvPr>
          <p:cNvSpPr txBox="1"/>
          <p:nvPr/>
        </p:nvSpPr>
        <p:spPr>
          <a:xfrm>
            <a:off x="514912" y="4871911"/>
            <a:ext cx="1282723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(2/5)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056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77E3B7D-064A-78A0-CD76-BED37FF31FF8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2DB753A9-41FE-6057-D08F-8DEF3B861911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39CA870D-A949-F9F0-9FF5-1DECFCC0D4CE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0241A04-FAE7-CDE2-0570-3382ECC760F1}"/>
              </a:ext>
            </a:extLst>
          </p:cNvPr>
          <p:cNvSpPr txBox="1"/>
          <p:nvPr/>
        </p:nvSpPr>
        <p:spPr>
          <a:xfrm>
            <a:off x="1989529" y="526239"/>
            <a:ext cx="265489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 err="1">
                <a:latin typeface="KakaoBig OTF Bold" pitchFamily="2" charset="-127"/>
                <a:ea typeface="KakaoBig OTF Bold" pitchFamily="2" charset="-127"/>
              </a:rPr>
              <a:t>카카오모먼트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QA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프로세스 개선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8FC9521-3A5F-7A9E-8EFC-B98F4DB5A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32375"/>
              </p:ext>
            </p:extLst>
          </p:nvPr>
        </p:nvGraphicFramePr>
        <p:xfrm>
          <a:off x="1989529" y="895627"/>
          <a:ext cx="4442421" cy="3398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025.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6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2025.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12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리더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스쿼드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운영 및 시기 적절한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대응을 위한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모먼트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운영 전략 수립 및 리소스 조율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애자일 환경 및 기획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개발자 역량에 따라 업무 가중이 되어 가고 있음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유관부서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간 개선점을 도출하여 프로세스를 개선하고자 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일정 산정 시 여유 확보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과제 리뷰와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일정 분리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3.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기획 문서 일원화 및 실시간 업데이트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4.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스쿼드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간 협의 체계 구축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5.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실시간 커뮤니케이션 체계 강화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dirty="0">
                          <a:latin typeface="KakaoBig OTF" pitchFamily="2" charset="-127"/>
                          <a:ea typeface="KakaoBig OTF" pitchFamily="2" charset="-127"/>
                        </a:rPr>
                        <a:t>정기배포 알림 자동화 개발</a:t>
                      </a: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i="0" dirty="0">
                          <a:latin typeface="KakaoBig OTF" pitchFamily="2" charset="-127"/>
                          <a:ea typeface="KakaoBig OTF" pitchFamily="2" charset="-127"/>
                        </a:rPr>
                        <a:t>정기</a:t>
                      </a:r>
                      <a:r>
                        <a:rPr lang="en-US" altLang="ko-KR" sz="10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000" b="0" i="0" dirty="0" err="1">
                          <a:latin typeface="KakaoBig OTF" pitchFamily="2" charset="-127"/>
                          <a:ea typeface="KakaoBig OTF" pitchFamily="2" charset="-127"/>
                        </a:rPr>
                        <a:t>비정기</a:t>
                      </a:r>
                      <a:r>
                        <a:rPr lang="en-US" altLang="ko-KR" sz="10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000" b="0" i="0" dirty="0">
                          <a:latin typeface="KakaoBig OTF" pitchFamily="2" charset="-127"/>
                          <a:ea typeface="KakaoBig OTF" pitchFamily="2" charset="-127"/>
                        </a:rPr>
                        <a:t>상시 배포 가이드 수립</a:t>
                      </a: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37FF12-1740-0890-6ECF-23214725DD6D}"/>
              </a:ext>
            </a:extLst>
          </p:cNvPr>
          <p:cNvSpPr txBox="1"/>
          <p:nvPr/>
        </p:nvSpPr>
        <p:spPr>
          <a:xfrm>
            <a:off x="514912" y="451026"/>
            <a:ext cx="1309974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(3/5)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228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23A15497-68A2-EAE4-7AC7-857B37F4F5C0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E5430B44-51F2-9BD1-1718-DF0B60E861FB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B6C9008D-85E7-768C-5A04-D924D4C6E955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0212A9E-977D-6DA6-A947-184515CBEC4A}"/>
              </a:ext>
            </a:extLst>
          </p:cNvPr>
          <p:cNvSpPr txBox="1"/>
          <p:nvPr/>
        </p:nvSpPr>
        <p:spPr>
          <a:xfrm>
            <a:off x="1989529" y="526239"/>
            <a:ext cx="3401893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카카오모먼트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Open API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테스트 신규 구축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71C4E02-55B7-521D-8DE9-E5F0513CA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491991"/>
              </p:ext>
            </p:extLst>
          </p:nvPr>
        </p:nvGraphicFramePr>
        <p:xfrm>
          <a:off x="1989529" y="895627"/>
          <a:ext cx="4442421" cy="3261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10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12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리더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카카오모먼트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Open API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절차 및 방법 수립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테스트케이스 설계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 대행사의 사용성을 높이기 위해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Open API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고도화 과제 설정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이에 따른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API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프로세스 수립 및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진행에 대한 니즈 발생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포스트맨 사용법 숙지 및 공유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포스트맨 테스트 스크립트 설계 방법 정의 및 가이드 제공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Open API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지원 기능에 대한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1,500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‘20. 12 Open API 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 수립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‘22. 7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포스트맨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API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스크립트 고도화 진행</a:t>
                      </a: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2F1949-3D63-5305-7E6D-CC49180755C1}"/>
              </a:ext>
            </a:extLst>
          </p:cNvPr>
          <p:cNvSpPr txBox="1"/>
          <p:nvPr/>
        </p:nvSpPr>
        <p:spPr>
          <a:xfrm>
            <a:off x="514912" y="451026"/>
            <a:ext cx="1309974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(3/5)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A839812-1E11-D0FA-DE9A-11A49A28C59F}"/>
              </a:ext>
            </a:extLst>
          </p:cNvPr>
          <p:cNvGrpSpPr/>
          <p:nvPr/>
        </p:nvGrpSpPr>
        <p:grpSpPr>
          <a:xfrm>
            <a:off x="578451" y="4372099"/>
            <a:ext cx="6005899" cy="0"/>
            <a:chOff x="401444" y="1929163"/>
            <a:chExt cx="6005899" cy="0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E8182D61-0ECC-F9B9-24EB-53336D5BF391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311F6FEA-4DA4-9AC5-92A0-ECFBB35DC738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AEB912F-AC82-41B7-2566-C5FA064D7FF2}"/>
              </a:ext>
            </a:extLst>
          </p:cNvPr>
          <p:cNvSpPr txBox="1"/>
          <p:nvPr/>
        </p:nvSpPr>
        <p:spPr>
          <a:xfrm>
            <a:off x="2141929" y="4457008"/>
            <a:ext cx="3355406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Test Assign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문서 일원화 및 사용성 개선</a:t>
            </a:r>
          </a:p>
        </p:txBody>
      </p:sp>
      <p:graphicFrame>
        <p:nvGraphicFramePr>
          <p:cNvPr id="12" name="표 5">
            <a:extLst>
              <a:ext uri="{FF2B5EF4-FFF2-40B4-BE49-F238E27FC236}">
                <a16:creationId xmlns:a16="http://schemas.microsoft.com/office/drawing/2014/main" id="{55ADE205-4631-1F67-1B9E-07B8CA163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30571"/>
              </p:ext>
            </p:extLst>
          </p:nvPr>
        </p:nvGraphicFramePr>
        <p:xfrm>
          <a:off x="2141929" y="4826397"/>
          <a:ext cx="4442421" cy="44840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323572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2023. 6 ~ 2023. 10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19573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19573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인 진행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1801068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Test 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문서 일원화 및 가이드 제공으로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리소스 분배에 대한 업무 효율화 및 사용성 개선</a:t>
                      </a:r>
                    </a:p>
                    <a:p>
                      <a:endParaRPr lang="ko-KR" altLang="en-US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양분화된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어싸인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문서 일원화 및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별 인원 할당 시 적확도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효율성 증대를 위한 신규 문서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➢ Test 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문서 분석 및 초안 생성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기존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문서 설문 조사 및 의견 취합 결과 분석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문서 샘플 초안 생성 완료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➢ 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Test 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문서 일원화 적용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문서 일원화 관련 가이드 생성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설문 조사 결과 관련 크루 인터뷰 및 문서 업데이트 완료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문서 일원화 샘플 및 가이드 공유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신규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어싸인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문서 파일럿 적용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어싸인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문서 파일럿 리뷰 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V2.0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배포성능 측정 툴 선정 및 사용법 공유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성능 측정 테스트케이스 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FCP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</a:t>
                      </a: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TTI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</a:t>
                      </a: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기반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 및 테스트 결과 취합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리스크 도출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5B06E58-06E1-94B3-AE99-A80F86B46318}"/>
              </a:ext>
            </a:extLst>
          </p:cNvPr>
          <p:cNvSpPr txBox="1"/>
          <p:nvPr/>
        </p:nvSpPr>
        <p:spPr>
          <a:xfrm>
            <a:off x="667312" y="4381795"/>
            <a:ext cx="1309974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(4/5)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0834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DDB5BF6-AE0E-9CF7-9B17-53470C454352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C080825F-730B-F636-5647-BFD12437CED4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4133F88A-D257-E86C-50F9-C0D75ABE72EA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DC8A173B-1D4F-77BF-1F7C-28BECA514889}"/>
              </a:ext>
            </a:extLst>
          </p:cNvPr>
          <p:cNvCxnSpPr/>
          <p:nvPr/>
        </p:nvCxnSpPr>
        <p:spPr>
          <a:xfrm>
            <a:off x="2018371" y="4953000"/>
            <a:ext cx="442800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6BD220-D39D-0377-DFB1-1C0672BC5FF9}"/>
              </a:ext>
            </a:extLst>
          </p:cNvPr>
          <p:cNvSpPr txBox="1"/>
          <p:nvPr/>
        </p:nvSpPr>
        <p:spPr>
          <a:xfrm>
            <a:off x="1989529" y="918924"/>
            <a:ext cx="256192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 비즈니스 통합가입 오픈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2" name="표 5">
            <a:extLst>
              <a:ext uri="{FF2B5EF4-FFF2-40B4-BE49-F238E27FC236}">
                <a16:creationId xmlns:a16="http://schemas.microsoft.com/office/drawing/2014/main" id="{D87DE3D2-2044-505B-CED1-C3D248DB0320}"/>
              </a:ext>
            </a:extLst>
          </p:cNvPr>
          <p:cNvGraphicFramePr>
            <a:graphicFrameLocks noGrp="1"/>
          </p:cNvGraphicFramePr>
          <p:nvPr/>
        </p:nvGraphicFramePr>
        <p:xfrm>
          <a:off x="1989529" y="1272924"/>
          <a:ext cx="4442421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11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2021.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리더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각 서비스별 가입 프로세스 변경 및 일원화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대상 서비스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카카오모먼트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채널관리자센터 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7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 서비스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서비스별 산발적으로 구현되어 있던 가입절차를 일원화하여 카카오계정 기반 비즈니스 가입 간소화 서비스 제공</a:t>
                      </a: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(1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(4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Plan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수립 및 준비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Testcase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900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서비스별 가입 및 계정 상태에 따른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Case Matrix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설계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통합가입 여부에 따른 상태전이 테스트 케이스 설계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 및 리포트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ED9954-8DB3-A092-D9C0-2CA9AECAAF67}"/>
              </a:ext>
            </a:extLst>
          </p:cNvPr>
          <p:cNvSpPr txBox="1"/>
          <p:nvPr/>
        </p:nvSpPr>
        <p:spPr>
          <a:xfrm>
            <a:off x="514912" y="451026"/>
            <a:ext cx="1309974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(5/5)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B42928-D9BB-595A-7472-87E4995FFD03}"/>
              </a:ext>
            </a:extLst>
          </p:cNvPr>
          <p:cNvSpPr txBox="1"/>
          <p:nvPr/>
        </p:nvSpPr>
        <p:spPr>
          <a:xfrm>
            <a:off x="1989529" y="5034578"/>
            <a:ext cx="396134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 startAt="2"/>
            </a:pP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카카오계정 기반 키워드광고플랫폼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(FOKA) 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신규 오픈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4" name="표 5">
            <a:extLst>
              <a:ext uri="{FF2B5EF4-FFF2-40B4-BE49-F238E27FC236}">
                <a16:creationId xmlns:a16="http://schemas.microsoft.com/office/drawing/2014/main" id="{5D5C17EA-979B-196C-D374-1C051A41C9FF}"/>
              </a:ext>
            </a:extLst>
          </p:cNvPr>
          <p:cNvGraphicFramePr>
            <a:graphicFrameLocks noGrp="1"/>
          </p:cNvGraphicFramePr>
          <p:nvPr/>
        </p:nvGraphicFramePr>
        <p:xfrm>
          <a:off x="1989529" y="5388578"/>
          <a:ext cx="4442421" cy="3093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7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9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리더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기존 다음 계정 기반 → 카카오계정 기반으로 플랫폼 신규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카카오모먼트에 키워드광고계정 타입이 추가되며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해당 계정타입에서 키워드광고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DSP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기능구현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키워드광고 어드민 심사 기능 신규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(1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(7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Plan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수립 및 준비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Testcase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6,200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 및 리포트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2AF4783-0528-FB78-1FB3-E38710CAC6B9}"/>
              </a:ext>
            </a:extLst>
          </p:cNvPr>
          <p:cNvSpPr txBox="1"/>
          <p:nvPr/>
        </p:nvSpPr>
        <p:spPr>
          <a:xfrm>
            <a:off x="1989529" y="526239"/>
            <a:ext cx="271741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신규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/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전체 개편 서비스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QA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담당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85440-5588-C255-36B4-9590C9BA8119}"/>
              </a:ext>
            </a:extLst>
          </p:cNvPr>
          <p:cNvSpPr txBox="1"/>
          <p:nvPr/>
        </p:nvSpPr>
        <p:spPr>
          <a:xfrm>
            <a:off x="426051" y="9257745"/>
            <a:ext cx="60800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1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) QA </a:t>
            </a:r>
            <a:r>
              <a:rPr kumimoji="1" lang="en-US" altLang="ko-KR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Enigneer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요구사항부터 릴리즈 전반의 모든 것을 검증하고 품질을 보증하는 활동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|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2)</a:t>
            </a:r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Test Engineer.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기능에 대한 결함 확인 및 검증 리뷰하는 활동</a:t>
            </a:r>
            <a:endParaRPr kumimoji="1" lang="ko-Kore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KakaoBig OTF" pitchFamily="2" charset="-127"/>
              <a:ea typeface="KakaoBig O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693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22B85A-A2FC-590C-3445-E7CEC26A482A}"/>
              </a:ext>
            </a:extLst>
          </p:cNvPr>
          <p:cNvSpPr txBox="1"/>
          <p:nvPr/>
        </p:nvSpPr>
        <p:spPr>
          <a:xfrm>
            <a:off x="1989529" y="531932"/>
            <a:ext cx="2743059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 startAt="3"/>
            </a:pP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카카오모먼트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DSP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 광고구조 개편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DC8A173B-1D4F-77BF-1F7C-28BECA514889}"/>
              </a:ext>
            </a:extLst>
          </p:cNvPr>
          <p:cNvCxnSpPr/>
          <p:nvPr/>
        </p:nvCxnSpPr>
        <p:spPr>
          <a:xfrm>
            <a:off x="2018371" y="4501291"/>
            <a:ext cx="442800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66BD220-D39D-0377-DFB1-1C0672BC5FF9}"/>
              </a:ext>
            </a:extLst>
          </p:cNvPr>
          <p:cNvSpPr txBox="1"/>
          <p:nvPr/>
        </p:nvSpPr>
        <p:spPr>
          <a:xfrm>
            <a:off x="2003950" y="4601589"/>
            <a:ext cx="259398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 startAt="4"/>
            </a:pP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비즈니스 센터 신규 오픈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2" name="표 5">
            <a:extLst>
              <a:ext uri="{FF2B5EF4-FFF2-40B4-BE49-F238E27FC236}">
                <a16:creationId xmlns:a16="http://schemas.microsoft.com/office/drawing/2014/main" id="{D87DE3D2-2044-505B-CED1-C3D248DB0320}"/>
              </a:ext>
            </a:extLst>
          </p:cNvPr>
          <p:cNvGraphicFramePr>
            <a:graphicFrameLocks noGrp="1"/>
          </p:cNvGraphicFramePr>
          <p:nvPr/>
        </p:nvGraphicFramePr>
        <p:xfrm>
          <a:off x="2003950" y="4955589"/>
          <a:ext cx="4442421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2018. 8 ~ 2018.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셀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리더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카카오비즈니스센터 신규 개발을 위한 프론트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어드민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담당</a:t>
                      </a:r>
                      <a:endParaRPr lang="ko-Kore-KR" altLang="en-US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카카오에서 메시지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커머스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 등의 비즈니스를 하려는 사용자를 위한 통합 비즈니스 관리플랫폼으로 통합회원가입 및 각 서비스로의 연결 기능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제공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(2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(5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Plan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수립 및 준비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Testcase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1,100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서비스별 옵션 조합별 케이스 매트릭스설계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 ㄴ 카카오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모먼트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 쇼핑 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9</a:t>
                      </a:r>
                      <a:r>
                        <a:rPr lang="ko-KR" altLang="en-US" sz="1100" b="0" i="0">
                          <a:latin typeface="KakaoBig OTF" pitchFamily="2" charset="-127"/>
                          <a:ea typeface="KakaoBig OTF" pitchFamily="2" charset="-127"/>
                        </a:rPr>
                        <a:t>개 서비스</a:t>
                      </a:r>
                      <a:endParaRPr lang="ko-KR" altLang="en-US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카카오톡 채널 월렛 목적 테스트케이스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각 서비스별 데이터 생성 가이드 작성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 ㄴ 채널 관리자 센터 프로필 및 월렛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광고계정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비즈 계정 및 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커머스 가입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카카오쇼핑 매장 입점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지표 생성 관련 가이드 생성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스웨거 활용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 및 리포트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7F0B88F5-063D-06BE-D407-ED1DB113C982}"/>
              </a:ext>
            </a:extLst>
          </p:cNvPr>
          <p:cNvGraphicFramePr>
            <a:graphicFrameLocks noGrp="1"/>
          </p:cNvGraphicFramePr>
          <p:nvPr/>
        </p:nvGraphicFramePr>
        <p:xfrm>
          <a:off x="1989529" y="885932"/>
          <a:ext cx="4442421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2020.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4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서브리더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DSP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광고구조 전면 개편으로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및 마이그레이션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성능 테스트 담당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다양한 과금 방식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노출방식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판매방식을 지원하여 다양한 상품 대응이 가능한 구조로 개편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목적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&gt;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캠페인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&gt;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그룹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&gt;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소재의 광고구조를 유연하고 쉽게 운영할 수 있는 플랫폼 지원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(2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(8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구조개편 관련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4,200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여개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전체 중 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40%)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마이그레이션 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DB 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및 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Case Matrix 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(16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 옵션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Pairwise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활용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6C870D12-E234-9943-C061-11C503572006}"/>
              </a:ext>
            </a:extLst>
          </p:cNvPr>
          <p:cNvCxnSpPr/>
          <p:nvPr/>
        </p:nvCxnSpPr>
        <p:spPr>
          <a:xfrm>
            <a:off x="2003950" y="441330"/>
            <a:ext cx="442800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AE86EB5-D5F5-7C14-AC33-641F16F4596E}"/>
              </a:ext>
            </a:extLst>
          </p:cNvPr>
          <p:cNvSpPr txBox="1"/>
          <p:nvPr/>
        </p:nvSpPr>
        <p:spPr>
          <a:xfrm>
            <a:off x="426051" y="9257745"/>
            <a:ext cx="60800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1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) QA </a:t>
            </a:r>
            <a:r>
              <a:rPr kumimoji="1" lang="en-US" altLang="ko-KR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Enigneer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요구사항부터 릴리즈 전반의 모든 것을 검증하고 품질을 보증하는 활동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|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2)</a:t>
            </a:r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Test Engineer.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기능에 대한 결함 확인 및 검증 리뷰하는 활동</a:t>
            </a:r>
            <a:endParaRPr kumimoji="1" lang="ko-Kore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KakaoBig OTF" pitchFamily="2" charset="-127"/>
              <a:ea typeface="KakaoBig O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885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677B4-8944-397B-8628-16D95593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0DD32B-578B-D63C-0174-9C727803603D}"/>
              </a:ext>
            </a:extLst>
          </p:cNvPr>
          <p:cNvSpPr txBox="1"/>
          <p:nvPr/>
        </p:nvSpPr>
        <p:spPr>
          <a:xfrm>
            <a:off x="1989529" y="531932"/>
            <a:ext cx="3145413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 startAt="5"/>
            </a:pPr>
            <a:r>
              <a:rPr kumimoji="1" lang="ko-KR" altLang="en-US" sz="1200" b="1" dirty="0" err="1">
                <a:latin typeface="KakaoBig OTF Bold" pitchFamily="2" charset="-127"/>
                <a:ea typeface="KakaoBig OTF Bold" pitchFamily="2" charset="-127"/>
              </a:rPr>
              <a:t>카카오모먼트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 메시지광고 동선 신규 제공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 dirty="0">
              <a:latin typeface="KakaoBig OTF Bold" pitchFamily="2" charset="-127"/>
              <a:ea typeface="KakaoBig OTF Bold" pitchFamily="2" charset="-127"/>
            </a:endParaRPr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491E5CA7-45FF-0D41-34DF-76C9573A8037}"/>
              </a:ext>
            </a:extLst>
          </p:cNvPr>
          <p:cNvCxnSpPr/>
          <p:nvPr/>
        </p:nvCxnSpPr>
        <p:spPr>
          <a:xfrm>
            <a:off x="2018371" y="4501291"/>
            <a:ext cx="442800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1098C7-C3E2-0515-C9E4-ECEED8CB3008}"/>
              </a:ext>
            </a:extLst>
          </p:cNvPr>
          <p:cNvSpPr txBox="1"/>
          <p:nvPr/>
        </p:nvSpPr>
        <p:spPr>
          <a:xfrm>
            <a:off x="2003950" y="4601589"/>
            <a:ext cx="2593980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28600" indent="-228600">
              <a:buFont typeface="+mj-lt"/>
              <a:buAutoNum type="arabicParenR" startAt="6"/>
            </a:pP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카카오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ko-KR" altLang="en-US" sz="1200" b="1" dirty="0">
                <a:latin typeface="KakaoBig OTF Bold" pitchFamily="2" charset="-127"/>
                <a:ea typeface="KakaoBig OTF Bold" pitchFamily="2" charset="-127"/>
              </a:rPr>
              <a:t>비즈니스 센터 신규 오픈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QA</a:t>
            </a:r>
            <a:endParaRPr kumimoji="1" lang="ko-Kore-KR" altLang="en-US" sz="1200" b="1" dirty="0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2" name="표 5">
            <a:extLst>
              <a:ext uri="{FF2B5EF4-FFF2-40B4-BE49-F238E27FC236}">
                <a16:creationId xmlns:a16="http://schemas.microsoft.com/office/drawing/2014/main" id="{275B84E0-A2FE-7165-9AFA-BC8F6153B574}"/>
              </a:ext>
            </a:extLst>
          </p:cNvPr>
          <p:cNvGraphicFramePr>
            <a:graphicFrameLocks noGrp="1"/>
          </p:cNvGraphicFramePr>
          <p:nvPr/>
        </p:nvGraphicFramePr>
        <p:xfrm>
          <a:off x="2003950" y="4955589"/>
          <a:ext cx="4442421" cy="3764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2018. 8 ~ 2018.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QE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셀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리더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(2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(5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Plan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수립 및 준비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Testcase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1,100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서비스별 옵션 조합별 케이스 매트릭스설계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 ㄴ 카카오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모먼트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 쇼핑 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9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 서비스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카카오톡 채널 월렛 목적 테스트케이스 설계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각 서비스별 데이터 생성 가이드 작성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 ㄴ 채널 관리자 센터 프로필 및 월렛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광고계정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비즈 계정 및 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   커머스 가입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카카오쇼핑 매장 입점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지표 생성 관련 가이드 생성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스웨거 활용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 및 리포트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A738678E-F5AF-D21C-1C46-5D2EA688A1BF}"/>
              </a:ext>
            </a:extLst>
          </p:cNvPr>
          <p:cNvGraphicFramePr>
            <a:graphicFrameLocks noGrp="1"/>
          </p:cNvGraphicFramePr>
          <p:nvPr/>
        </p:nvGraphicFramePr>
        <p:xfrm>
          <a:off x="1989529" y="885932"/>
          <a:ext cx="4442421" cy="3261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2024.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10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2025.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3445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리더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08400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신규 동선 메시지광고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설계 및 광고계정에 따른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DSP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구조 변경 대응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DA/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메시지 통합 광고구조로 인해 불편했던 메시지 광고 사용성 개선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신규 메시지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백엔드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시스템을 도입하여 메시지 광고 고도화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1)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(2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</a:t>
                      </a:r>
                      <a:r>
                        <a:rPr lang="en-US" altLang="ko-KR" sz="1100" b="0" i="0" baseline="30000" dirty="0">
                          <a:latin typeface="KakaoBig OTF" pitchFamily="2" charset="-127"/>
                          <a:ea typeface="KakaoBig OTF" pitchFamily="2" charset="-127"/>
                        </a:rPr>
                        <a:t>2)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(8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어싸인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메시지광고 관련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5,500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여개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설계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전체 중 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70%)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Full 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외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모먼트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DSP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구조 변경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메시지 유형변경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Case Matrix, Open API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리스크 점검 및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화 진행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A2035347-249A-03A7-384E-8DF4484BEF6A}"/>
              </a:ext>
            </a:extLst>
          </p:cNvPr>
          <p:cNvCxnSpPr/>
          <p:nvPr/>
        </p:nvCxnSpPr>
        <p:spPr>
          <a:xfrm>
            <a:off x="2003950" y="441330"/>
            <a:ext cx="4428000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A716C62-00B1-31B4-EED0-44BDF4136948}"/>
              </a:ext>
            </a:extLst>
          </p:cNvPr>
          <p:cNvSpPr txBox="1"/>
          <p:nvPr/>
        </p:nvSpPr>
        <p:spPr>
          <a:xfrm>
            <a:off x="426051" y="9257745"/>
            <a:ext cx="60800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1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) QA </a:t>
            </a:r>
            <a:r>
              <a:rPr kumimoji="1" lang="en-US" altLang="ko-KR" sz="9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Enigneer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요구사항부터 릴리즈 전반의 모든 것을 검증하고 품질을 보증하는 활동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| 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</a:t>
            </a:r>
            <a:r>
              <a:rPr kumimoji="1"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2)</a:t>
            </a:r>
            <a:r>
              <a:rPr kumimoji="1" lang="en-US" altLang="ko-Kore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 Test Engineer. </a:t>
            </a:r>
            <a:r>
              <a:rPr kumimoji="1"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KakaoBig OTF" pitchFamily="2" charset="-127"/>
                <a:ea typeface="KakaoBig OTF" pitchFamily="2" charset="-127"/>
              </a:rPr>
              <a:t>기능에 대한 결함 확인 및 검증 리뷰하는 활동</a:t>
            </a:r>
            <a:endParaRPr kumimoji="1" lang="ko-Kore-KR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KakaoBig OTF" pitchFamily="2" charset="-127"/>
              <a:ea typeface="KakaoBig O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36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E884CF2-872C-630F-1638-E0FC2EB44FE7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A042BB08-6987-2978-1EAA-49FE48FFEE4B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83A5791A-2C1F-356D-A75A-38D1FAB1FE4C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B3F97A-69BC-F9BB-DA88-DCA52CF08C5A}"/>
              </a:ext>
            </a:extLst>
          </p:cNvPr>
          <p:cNvSpPr txBox="1"/>
          <p:nvPr/>
        </p:nvSpPr>
        <p:spPr>
          <a:xfrm>
            <a:off x="514912" y="451026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CDFE7A-E033-AB66-E101-FDC941A022E4}"/>
              </a:ext>
            </a:extLst>
          </p:cNvPr>
          <p:cNvSpPr txBox="1"/>
          <p:nvPr/>
        </p:nvSpPr>
        <p:spPr>
          <a:xfrm>
            <a:off x="1989529" y="526239"/>
            <a:ext cx="441659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AI</a:t>
            </a:r>
            <a:r>
              <a:rPr kumimoji="1" lang="ko-KR" altLang="en-US" sz="1400" b="1" dirty="0" err="1">
                <a:latin typeface="KakaoBig OTF Bold" pitchFamily="2" charset="-127"/>
                <a:ea typeface="KakaoBig OTF Bold" pitchFamily="2" charset="-127"/>
              </a:rPr>
              <a:t>를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활용한 테스트 방법 및 환경 개선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–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단말 관리 시스템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BA6F6E0F-4EAD-22F8-6006-DD2B6860C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509137"/>
              </p:ext>
            </p:extLst>
          </p:nvPr>
        </p:nvGraphicFramePr>
        <p:xfrm>
          <a:off x="1989529" y="895627"/>
          <a:ext cx="4442421" cy="460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025.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6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현재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리더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비중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80%)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단말 관리 시스템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기존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Jira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에서 관리하던 단말을 효율적으로 관리하기 위한 시스템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사용 도구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Claude(AI), VS Code, Python Django, </a:t>
                      </a:r>
                      <a:r>
                        <a:rPr lang="en-US" altLang="ko-KR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Github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MySQL, LDAP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주요 항목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단말 관리 서버 구축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2. LDAP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연동 검토 및 적용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(w/ </a:t>
                      </a:r>
                      <a:r>
                        <a:rPr lang="en-US" altLang="ko-KR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tj.k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3. RDBMS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연동 검토 및 적용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(w/ </a:t>
                      </a:r>
                      <a:r>
                        <a:rPr lang="en-US" altLang="ko-KR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tj.k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4.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단말 정보 현행화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주요 제공 기능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대시보드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목록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상세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사용자 인라인 변경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수정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삭제 버튼 제공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데이터 관리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관리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등록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수정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디바이스 삭제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3.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변경이력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4.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기술적 특징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사용성 강화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데이터 무결성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권한 관리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성능 최적화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지원 플랫폼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지원 대여 상태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DC007323-502F-1440-CFA4-9052CB756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1960"/>
            <a:ext cx="6858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DA3E-2647-86BE-3F39-60FFD349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506A81F-C8D2-3170-BED4-D40AB47870DD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B23D1DB4-F207-2857-33AD-98FBB27B1D57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F3DBADF6-7B2A-DC17-A00E-6774AD9C4262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D08614D-02C4-EB25-B5FD-BFF525065623}"/>
              </a:ext>
            </a:extLst>
          </p:cNvPr>
          <p:cNvSpPr txBox="1"/>
          <p:nvPr/>
        </p:nvSpPr>
        <p:spPr>
          <a:xfrm>
            <a:off x="514912" y="451026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00BC39-4E38-D4B3-226A-FEBE9E5087F5}"/>
              </a:ext>
            </a:extLst>
          </p:cNvPr>
          <p:cNvSpPr txBox="1"/>
          <p:nvPr/>
        </p:nvSpPr>
        <p:spPr>
          <a:xfrm>
            <a:off x="1989529" y="526239"/>
            <a:ext cx="4198585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AI</a:t>
            </a:r>
            <a:r>
              <a:rPr kumimoji="1" lang="ko-KR" altLang="en-US" sz="1400" b="1" dirty="0" err="1">
                <a:latin typeface="KakaoBig OTF Bold" pitchFamily="2" charset="-127"/>
                <a:ea typeface="KakaoBig OTF Bold" pitchFamily="2" charset="-127"/>
              </a:rPr>
              <a:t>를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활용한 테스트 방법 및 환경 개선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–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QA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도구 모음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9D2B0E6C-7F9F-2CFA-9877-902802A85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090126"/>
              </p:ext>
            </p:extLst>
          </p:nvPr>
        </p:nvGraphicFramePr>
        <p:xfrm>
          <a:off x="1989529" y="895627"/>
          <a:ext cx="4442421" cy="409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025.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6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현재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리더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비중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100%)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광고플랫폼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도구 모음 웹페이지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모먼트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광고플랫폼에서 테스트 환경 관련 다양한 도구들을 사용하고 있음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깃허브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또는 파이썬 코드를 실행하여 테스트 데이터를 생성하고 있었음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산발되어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있던 도구들을 단일 웹페이지 내에서 사용 가능하도록 웹 페이지 개발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픽셀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&amp;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SDK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모수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생성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 픽셀 이벤트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카탈로그 상품 목록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카탈로그 파일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친구그룹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타게팅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 전화번호 그룹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앱유저아이디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타게팅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카카오로그인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모수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생성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카탈로그 상품 조회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상품 연동 비교 및 상태 조회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메시지 로그 추적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: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메시지 광고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ID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기반 로그 추적 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C9C4D80A-2F9B-5F74-BE84-4EA317F9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6094"/>
            <a:ext cx="6858000" cy="273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2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83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8FD97EE-2CC5-4A9B-A63E-099760CCE22D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2D1E6966-8749-A050-FAFA-0A227440684B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B41D018B-C167-C0B8-8542-1572593D99B2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EED7A0-3536-209F-448F-36E5CCD36EE4}"/>
              </a:ext>
            </a:extLst>
          </p:cNvPr>
          <p:cNvSpPr txBox="1"/>
          <p:nvPr/>
        </p:nvSpPr>
        <p:spPr>
          <a:xfrm>
            <a:off x="514912" y="451026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E9D658-45E6-69EE-1EA2-2CB333A56865}"/>
              </a:ext>
            </a:extLst>
          </p:cNvPr>
          <p:cNvSpPr txBox="1"/>
          <p:nvPr/>
        </p:nvSpPr>
        <p:spPr>
          <a:xfrm>
            <a:off x="1989529" y="526239"/>
            <a:ext cx="223170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 오픈 프로세스 수립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C137C902-7046-E7CA-DC66-67956164C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607353"/>
              </p:ext>
            </p:extLst>
          </p:nvPr>
        </p:nvGraphicFramePr>
        <p:xfrm>
          <a:off x="1989529" y="895627"/>
          <a:ext cx="4442421" cy="527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022.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6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2024.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8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카카오 서비스의 신규 오픈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전체 개편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변경 배포에 필요한 절차와 전반적인 활동 가이드 마련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프로젝트 진행 과정에서 발생할 수 있는 리스크를 사전에 예방하고 완성도 높은 서비스를 만들기 위함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명확한 프로세스 부재로 대응이 누락되는 발생 방지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목적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기능 조직이 원활한 협업을 위해 프로젝트 초기에 공유되고 사전 준비할 수 있도록 가이드 제공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품질 </a:t>
                      </a: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SignOff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활동을 통해 </a:t>
                      </a:r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역할과 책임 범위를 명확히 하여 품질 의사결정 강화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품질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SignOff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수립</a:t>
                      </a:r>
                      <a:endParaRPr lang="en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Exit Criteria Level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수립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테스트단계별 목적 및 테스트방법 리뷰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품질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ignOff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평가방법 리뷰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준비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-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TC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예상개수 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일정 산정 방법 검토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업무진행방법 포맷 검토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서비스오픈프로세스 항목별 가이드 작성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정보보안 검수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오픈소스 검수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인프라 검토 및 감수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모바일스토어</a:t>
                      </a:r>
                    </a:p>
                    <a:p>
                      <a:pPr marL="514350" marR="0" lvl="1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오픈 체크리스트 양식 및 내용</a:t>
                      </a: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64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C8C216A-1111-30EE-295C-4FC3EB5266B5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1BC918E2-DE5B-3FB3-04FF-E270032298E7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A96F6D16-08F6-0EC2-7768-A2838386F867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092A44D-EC42-5946-E9A8-091FAE1AA676}"/>
              </a:ext>
            </a:extLst>
          </p:cNvPr>
          <p:cNvSpPr txBox="1"/>
          <p:nvPr/>
        </p:nvSpPr>
        <p:spPr>
          <a:xfrm>
            <a:off x="1989529" y="526239"/>
            <a:ext cx="1750800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유닛 리더 업무 담당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67AD55E-52ED-5125-6B52-59BE1E315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77866"/>
              </p:ext>
            </p:extLst>
          </p:nvPr>
        </p:nvGraphicFramePr>
        <p:xfrm>
          <a:off x="1989529" y="895628"/>
          <a:ext cx="4442421" cy="43164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323572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19</a:t>
                      </a:r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 ~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지속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19573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19573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유닛 리더</a:t>
                      </a:r>
                      <a:endParaRPr lang="ko-Kore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1801068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Roboto Mono Medium" pitchFamily="49" charset="0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조직 개편 및 인원 증가로 인해 파트 내 유닛 분배 및 리더 담당</a:t>
                      </a:r>
                    </a:p>
                    <a:p>
                      <a:endParaRPr lang="ko-KR" altLang="en-US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조직 개편과 인력 충원으로 규모가 커짐에 따라 품질 활동 강화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부담감 해소와 백업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표준화된 업무 체계 등을 위해 유닛 체제 구성하게 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Main-QA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선정 및 과제 분배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스케줄 업무 분장 및 일정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리소스 조율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유닛 단말 리스트 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SR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시스템 정리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재택근무 대비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외주사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테스트 환경 점검 및 대응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지원서 서류 전형 검토 및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1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차 면접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인터뷰어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참석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이슈 관리체계 정립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검증형계약직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뉴인턴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과제 분배 및 평가 진행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영입 과제 및 인터뷰 평가서 생성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en" altLang="ko-KR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Plan&amp;Report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포맷 생성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주간보고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Test Result, Test Assign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양식 개선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Report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리뷰 프로세스 검토 및 수립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45277C-FEAD-9B45-DF84-20EB2279E89F}"/>
              </a:ext>
            </a:extLst>
          </p:cNvPr>
          <p:cNvSpPr txBox="1"/>
          <p:nvPr/>
        </p:nvSpPr>
        <p:spPr>
          <a:xfrm>
            <a:off x="514912" y="451026"/>
            <a:ext cx="1309974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카카오에서의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(4/5)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DA6CB1D-1FCE-41FD-AF10-0244B3B70F2A}"/>
              </a:ext>
            </a:extLst>
          </p:cNvPr>
          <p:cNvGrpSpPr/>
          <p:nvPr/>
        </p:nvGrpSpPr>
        <p:grpSpPr>
          <a:xfrm>
            <a:off x="426051" y="5455948"/>
            <a:ext cx="6005899" cy="0"/>
            <a:chOff x="401444" y="1929163"/>
            <a:chExt cx="6005899" cy="0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545E870F-28EB-EF04-0BDF-A5A6705B54A2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DC71C303-6E67-4326-4891-4C9B79FFA1C4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E2201FF-123F-F120-0FA4-E68B79DEAD78}"/>
              </a:ext>
            </a:extLst>
          </p:cNvPr>
          <p:cNvSpPr txBox="1"/>
          <p:nvPr/>
        </p:nvSpPr>
        <p:spPr>
          <a:xfrm>
            <a:off x="514912" y="5465644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LG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08465-5222-8A7B-B258-FD838995B992}"/>
              </a:ext>
            </a:extLst>
          </p:cNvPr>
          <p:cNvSpPr txBox="1"/>
          <p:nvPr/>
        </p:nvSpPr>
        <p:spPr>
          <a:xfrm>
            <a:off x="1989529" y="5540857"/>
            <a:ext cx="2595582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신규 모델 </a:t>
            </a:r>
            <a:r>
              <a:rPr kumimoji="1" lang="en" altLang="ko-KR" sz="1400" b="1" dirty="0">
                <a:latin typeface="KakaoBig OTF Bold" pitchFamily="2" charset="-127"/>
                <a:ea typeface="KakaoBig OTF Bold" pitchFamily="2" charset="-127"/>
              </a:rPr>
              <a:t>SW QA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기획 및 관리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B8245391-984D-7E24-9AFA-88B762C09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340564"/>
              </p:ext>
            </p:extLst>
          </p:nvPr>
        </p:nvGraphicFramePr>
        <p:xfrm>
          <a:off x="1989529" y="5910245"/>
          <a:ext cx="4442421" cy="3916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009.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2018.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5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LG G6, Nexus4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등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21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개 프로젝트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/70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여개 모델 담당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신기능 및 신규 요구사항에 대한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Use Case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및 시나리오 기반 검증 기획 도출 및 기준 정의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신규 부품에 대한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In-depth Review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활동 및 성능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신뢰성 기준정의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연구소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성능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신뢰성팀 협업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칩셋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메모리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카메라 등 다양한 모델군에 대한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Pairwise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기법활용으로 테스트 케이스 효율화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신기능에 대한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TRIZ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Multi-Screen Thinking,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자원 분석 등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을 활용한 신규 시험법 도출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자동화 스크립트 작성 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Tool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활용으로 변경점에 대한 신뢰성 확보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검증 단계별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리포트 주기적 보고 및 리스크 항목 도출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파레토 차트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이슈 흐름 분석 활용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550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268FA09-0CB3-7CDE-9C0D-617FF3D4FE31}"/>
              </a:ext>
            </a:extLst>
          </p:cNvPr>
          <p:cNvGrpSpPr/>
          <p:nvPr/>
        </p:nvGrpSpPr>
        <p:grpSpPr>
          <a:xfrm>
            <a:off x="426051" y="582023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676F30FD-BA07-1330-71EC-E06DB91F4081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4E4351FA-F1D1-4E1B-4A02-758FD226C45A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6F1C7B4-B9B6-AC6B-1F61-FF96E2AB09C7}"/>
              </a:ext>
            </a:extLst>
          </p:cNvPr>
          <p:cNvSpPr txBox="1"/>
          <p:nvPr/>
        </p:nvSpPr>
        <p:spPr>
          <a:xfrm>
            <a:off x="514912" y="591719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LG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3CDE0-EE2A-6D22-2978-F23536C80E97}"/>
              </a:ext>
            </a:extLst>
          </p:cNvPr>
          <p:cNvSpPr txBox="1"/>
          <p:nvPr/>
        </p:nvSpPr>
        <p:spPr>
          <a:xfrm>
            <a:off x="1989529" y="666932"/>
            <a:ext cx="3171061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en" altLang="ko-KR" sz="1400" b="1" dirty="0">
                <a:latin typeface="KakaoBig OTF Bold" pitchFamily="2" charset="-127"/>
                <a:ea typeface="KakaoBig OTF Bold" pitchFamily="2" charset="-127"/>
              </a:rPr>
              <a:t>Nexus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모델 프로세스 정립 </a:t>
            </a:r>
            <a:r>
              <a:rPr kumimoji="1" lang="en" altLang="ko-KR" sz="1400" b="1" dirty="0">
                <a:latin typeface="KakaoBig OTF Bold" pitchFamily="2" charset="-127"/>
                <a:ea typeface="KakaoBig OTF Bold" pitchFamily="2" charset="-127"/>
              </a:rPr>
              <a:t>Task 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진행 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A8D7A287-28FC-757D-9DE4-D4CD24564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875790"/>
              </p:ext>
            </p:extLst>
          </p:nvPr>
        </p:nvGraphicFramePr>
        <p:xfrm>
          <a:off x="1989529" y="1036320"/>
          <a:ext cx="4442421" cy="4754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013.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2013.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8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Google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협업 모델에 대한 신규 프로세스 정립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기존과 다른 성격의 프로젝트로 내부 검증 프로세스 적용이 어려웠음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40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여개국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검증 조직 관리 중 중복 업무와 불필요한 검증 항목 발생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내부 프로세스를 위배하지 않으면서 효율적인 품질보증을 위한 업무 개선 실시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양사 간 검증 기준 및 프로세스에 대한 차이점과 문제점을 분석하여 기존 자사 모델 대비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Nexus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모델에 대한 신규 프로세스 정립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Ice-Breaking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을 통한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Nexus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모델 특성 분석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검증 일정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검증 범위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,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지역별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R&amp;R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분석을 통한 국가별 검증 항목 정리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LG-Google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검증 프로세스 간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SWOT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및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MECE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기법을 통한 검증 효율화 및 프로세스 수립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이슈 수정률이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25.1%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에서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45.2%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로 향상되고 중복이슈는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35.4%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에서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3.2%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로 감소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(Nexus4 vs. Nexus5)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D207F0FE-3342-D043-C163-E4704598AA70}"/>
              </a:ext>
            </a:extLst>
          </p:cNvPr>
          <p:cNvGrpSpPr/>
          <p:nvPr/>
        </p:nvGrpSpPr>
        <p:grpSpPr>
          <a:xfrm>
            <a:off x="426051" y="5930399"/>
            <a:ext cx="6005899" cy="0"/>
            <a:chOff x="401444" y="1929163"/>
            <a:chExt cx="6005899" cy="0"/>
          </a:xfrm>
        </p:grpSpPr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0839FC0F-FAC6-D95F-F3DF-AEF997DE39EA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EB429D58-C920-C2DD-2D90-435A9FD19699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091C64A-A833-3698-A842-B01A34C3B088}"/>
              </a:ext>
            </a:extLst>
          </p:cNvPr>
          <p:cNvSpPr txBox="1"/>
          <p:nvPr/>
        </p:nvSpPr>
        <p:spPr>
          <a:xfrm>
            <a:off x="514912" y="5940095"/>
            <a:ext cx="1268296" cy="70442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LG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에서의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주요업적 </a:t>
            </a:r>
            <a:r>
              <a:rPr kumimoji="1" lang="en-US" altLang="ko-KR" sz="1200" b="1" dirty="0">
                <a:latin typeface="KakaoBig OTF Bold" pitchFamily="2" charset="-127"/>
                <a:ea typeface="KakaoBig OTF Bold" pitchFamily="2" charset="-127"/>
              </a:rPr>
              <a:t>(1/5)</a:t>
            </a:r>
            <a:endParaRPr kumimoji="1" lang="ko-Kore-KR" altLang="en-US" sz="1100" b="1">
              <a:latin typeface="KakaoBig OTF Bold" pitchFamily="2" charset="-127"/>
              <a:ea typeface="KakaoBig OTF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34058-BE6D-E625-8248-4DA80451778F}"/>
              </a:ext>
            </a:extLst>
          </p:cNvPr>
          <p:cNvSpPr txBox="1"/>
          <p:nvPr/>
        </p:nvSpPr>
        <p:spPr>
          <a:xfrm>
            <a:off x="1989529" y="6015308"/>
            <a:ext cx="3698448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인도 현지 검증 조직 교육 및 검증 프로세스 개선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13" name="표 5">
            <a:extLst>
              <a:ext uri="{FF2B5EF4-FFF2-40B4-BE49-F238E27FC236}">
                <a16:creationId xmlns:a16="http://schemas.microsoft.com/office/drawing/2014/main" id="{662F04E4-BBAC-A8F4-C143-2595D879D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384671"/>
              </p:ext>
            </p:extLst>
          </p:nvPr>
        </p:nvGraphicFramePr>
        <p:xfrm>
          <a:off x="1989529" y="6384696"/>
          <a:ext cx="4442421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034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983387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011.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11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~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2011.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11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서비스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</a:t>
                      </a:r>
                      <a:endParaRPr lang="ko-Kore-KR" altLang="en-US" sz="1200" b="0" i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56496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ore-KR" altLang="en-US" sz="1200" b="0" i="0">
                          <a:latin typeface="KakaoBig OTF" pitchFamily="2" charset="-127"/>
                          <a:ea typeface="KakaoBig OTF" pitchFamily="2" charset="-127"/>
                        </a:rPr>
                        <a:t>팀원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21359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ore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요약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스마트폰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검증법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교육 및 신기능 시험법과 체크리스트 상호 보완 시스템 구축에 기여함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배경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2011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년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LG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전자 안드로이드 스마트폰 본격 개발 시기로 검증 경험과 지식이 부족했음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국내외 스마트폰 검증 교육 및 프로세스 개선 필요성이 대두됨</a:t>
                      </a:r>
                      <a:endParaRPr lang="en-US" altLang="ko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altLang="ko-Kore-KR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[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상세 내용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]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한 달의 짧은 기간 내 인도 현지 </a:t>
                      </a:r>
                      <a:r>
                        <a:rPr lang="ko-KR" altLang="en-US" sz="1100" b="0" i="0" dirty="0" err="1">
                          <a:latin typeface="KakaoBig OTF" pitchFamily="2" charset="-127"/>
                          <a:ea typeface="KakaoBig OTF" pitchFamily="2" charset="-127"/>
                        </a:rPr>
                        <a:t>검증원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 교육과 프로세스 개선 업무 수행</a:t>
                      </a: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안드로이드 기본 원리 교육과 스마트폰 맞춤형 검증 항목 개선 실시 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(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현지 인턴을 활용한 영문 번역 병행</a:t>
                      </a:r>
                      <a:r>
                        <a:rPr lang="en-US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)</a:t>
                      </a:r>
                      <a:endParaRPr lang="ko-KR" altLang="en-US" sz="11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171450" marR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국내와 중복되는 검증항목에 대한 </a:t>
                      </a:r>
                      <a:r>
                        <a:rPr lang="en" altLang="ko-KR" sz="1100" b="0" i="0" dirty="0">
                          <a:latin typeface="KakaoBig OTF" pitchFamily="2" charset="-127"/>
                          <a:ea typeface="KakaoBig OTF" pitchFamily="2" charset="-127"/>
                        </a:rPr>
                        <a:t>ERRC </a:t>
                      </a:r>
                      <a:r>
                        <a:rPr lang="ko-KR" altLang="en-US" sz="1100" b="0" i="0" dirty="0">
                          <a:latin typeface="KakaoBig OTF" pitchFamily="2" charset="-127"/>
                          <a:ea typeface="KakaoBig OTF" pitchFamily="2" charset="-127"/>
                        </a:rPr>
                        <a:t>진행으로 효율성 향상</a:t>
                      </a:r>
                      <a:endParaRPr lang="en-US" altLang="ko-KR" sz="10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094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C358-991B-D19D-1988-B8A4C1D0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0116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7602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4DDB5BF6-AE0E-9CF7-9B17-53470C454352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3" name="직선 연결선[R] 2">
              <a:extLst>
                <a:ext uri="{FF2B5EF4-FFF2-40B4-BE49-F238E27FC236}">
                  <a16:creationId xmlns:a16="http://schemas.microsoft.com/office/drawing/2014/main" id="{C080825F-730B-F636-5647-BFD12437CED4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[R] 3">
              <a:extLst>
                <a:ext uri="{FF2B5EF4-FFF2-40B4-BE49-F238E27FC236}">
                  <a16:creationId xmlns:a16="http://schemas.microsoft.com/office/drawing/2014/main" id="{4133F88A-D257-E86C-50F9-C0D75ABE72EA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EE1EBD6-1EBB-E949-0A4A-9F5C58CA4BDB}"/>
              </a:ext>
            </a:extLst>
          </p:cNvPr>
          <p:cNvSpPr txBox="1"/>
          <p:nvPr/>
        </p:nvSpPr>
        <p:spPr>
          <a:xfrm>
            <a:off x="514912" y="541628"/>
            <a:ext cx="1353256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ko-Kore-KR" altLang="en-US" sz="1400" b="1">
                <a:latin typeface="KakaoBig OTF Bold" pitchFamily="2" charset="-127"/>
                <a:ea typeface="KakaoBig OTF Bold" pitchFamily="2" charset="-127"/>
              </a:rPr>
              <a:t>나의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역량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,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역할</a:t>
            </a:r>
            <a:r>
              <a:rPr kumimoji="1" lang="en-US" altLang="ko-KR" sz="1400" b="1" dirty="0">
                <a:latin typeface="KakaoBig OTF Bold" pitchFamily="2" charset="-127"/>
                <a:ea typeface="KakaoBig OTF Bold" pitchFamily="2" charset="-127"/>
              </a:rPr>
              <a:t>,</a:t>
            </a:r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 </a:t>
            </a:r>
            <a:endParaRPr kumimoji="1" lang="en-US" altLang="ko-KR" sz="1400" b="1" dirty="0">
              <a:latin typeface="KakaoBig OTF Bold" pitchFamily="2" charset="-127"/>
              <a:ea typeface="KakaoBig OTF Bold" pitchFamily="2" charset="-127"/>
            </a:endParaRPr>
          </a:p>
          <a:p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기여</a:t>
            </a:r>
            <a:endParaRPr kumimoji="1" lang="ko-Kore-KR" altLang="en-US" sz="1200" b="1">
              <a:latin typeface="KakaoBig OTF Bold" pitchFamily="2" charset="-127"/>
              <a:ea typeface="KakaoBig OTF Bold" pitchFamily="2" charset="-127"/>
            </a:endParaRPr>
          </a:p>
        </p:txBody>
      </p:sp>
      <p:graphicFrame>
        <p:nvGraphicFramePr>
          <p:cNvPr id="7" name="표 5">
            <a:extLst>
              <a:ext uri="{FF2B5EF4-FFF2-40B4-BE49-F238E27FC236}">
                <a16:creationId xmlns:a16="http://schemas.microsoft.com/office/drawing/2014/main" id="{A2F0AA79-33BF-0398-B4E5-74E3B0DEC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809"/>
              </p:ext>
            </p:extLst>
          </p:nvPr>
        </p:nvGraphicFramePr>
        <p:xfrm>
          <a:off x="2003949" y="541628"/>
          <a:ext cx="4675631" cy="90279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763">
                  <a:extLst>
                    <a:ext uri="{9D8B030D-6E8A-4147-A177-3AD203B41FA5}">
                      <a16:colId xmlns:a16="http://schemas.microsoft.com/office/drawing/2014/main" val="3532288372"/>
                    </a:ext>
                  </a:extLst>
                </a:gridCol>
                <a:gridCol w="3824868">
                  <a:extLst>
                    <a:ext uri="{9D8B030D-6E8A-4147-A177-3AD203B41FA5}">
                      <a16:colId xmlns:a16="http://schemas.microsoft.com/office/drawing/2014/main" val="975877300"/>
                    </a:ext>
                  </a:extLst>
                </a:gridCol>
              </a:tblGrid>
              <a:tr h="1898765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전문성</a:t>
                      </a:r>
                      <a:endParaRPr lang="en-US" altLang="ko-Kore-KR" sz="1200" b="1" i="0" dirty="0">
                        <a:latin typeface="KakaoBig OTF Bold" pitchFamily="2" charset="-127"/>
                        <a:ea typeface="KakaoBig OTF Bold" pitchFamily="2" charset="-127"/>
                      </a:endParaRPr>
                    </a:p>
                    <a:p>
                      <a:endParaRPr lang="ko-Kore-KR" altLang="en-US" sz="1200" b="1" i="0">
                        <a:latin typeface="KakaoBig OTF Bold" pitchFamily="2" charset="-127"/>
                        <a:ea typeface="KakaoBig OTF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업무에 대한 기술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경험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역량을 기반으로 매니징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엔지니어링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테스팅 측면의 지속적인 개선으로 테스트 커버리지의 확대 및 개선을 도모하겠습니다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유닛 리더로서 유닛 내 업무 개선 사항과 서비스별 적합한 테스트 방법론 발굴 및 적용하여 품질 강화 활동에 이바지하도록 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37042"/>
                  </a:ext>
                </a:extLst>
              </a:tr>
              <a:tr h="1898765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혁신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현재 카카오 오픈 프로세스 수립 및 파트 업무 개선활동을 동료들과 함께 진행하고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프로세스를 기반으로 프로젝트 시작부터 끝까지 주도적으로 리딩하고 가이드를 제공함으로써 품질 안정화를 더욱 높이도록 프로세스 및 테스트 방법 개선도 지속적으로 이루겠습니다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619491"/>
                  </a:ext>
                </a:extLst>
              </a:tr>
              <a:tr h="2686901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커뮤니케이션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시니어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주니어 동료들과 협업하면서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진행 시 적용 가능한 신기술을 지속적으로 발굴하고 정진하겠습니다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endParaRPr lang="en-US" altLang="ko-Kore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유관부서와도 유기적인 상호 작용을 통해 신규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기존 서비스에 대한 품질 향상을 도모하고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분야의 영향력을 높이도록 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아울러 원활한 의사 소통과 협업으로 파트 및 유닛 내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스케줄링 및 리소스 분배도 계속해서 고민하고 해결해 나가며 동시복합적으로 발생하는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과제에 대해 지혜롭게  풀어가도록 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ko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7382540"/>
                  </a:ext>
                </a:extLst>
              </a:tr>
              <a:tr h="2161477">
                <a:tc>
                  <a:txBody>
                    <a:bodyPr/>
                    <a:lstStyle/>
                    <a:p>
                      <a:r>
                        <a:rPr lang="ko-Kore-KR" altLang="en-US" sz="1200" b="1" i="0">
                          <a:latin typeface="KakaoBig OTF Bold" pitchFamily="2" charset="-127"/>
                          <a:ea typeface="KakaoBig OTF Bold" pitchFamily="2" charset="-127"/>
                        </a:rPr>
                        <a:t>조직</a:t>
                      </a:r>
                      <a:r>
                        <a:rPr lang="en-US" altLang="ko-Kore-KR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KakaoBig OTF Bold" pitchFamily="2" charset="-127"/>
                          <a:ea typeface="KakaoBig OTF Bold" pitchFamily="2" charset="-127"/>
                        </a:rPr>
                        <a:t>사람 영향력</a:t>
                      </a:r>
                      <a:endParaRPr lang="ko-Kore-KR" altLang="en-US" sz="1200" b="1" i="0">
                        <a:latin typeface="KakaoBig OTF Bold" pitchFamily="2" charset="-127"/>
                        <a:ea typeface="KakaoBig OTF Bold" pitchFamily="2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인터뷰어로서 활동하면서 부서에 필요한 인재를 지속적으로 발굴하고 영입할 수 있도록 노력하겠습니다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 영입 과제 개선 뿐 아니라 인터뷰어로서 질문 능력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커뮤니케이션 능력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인터뷰 능력 등 역량을 강화함으로써 최적의 질문과 인터뷰 환경을 통해 카카오에 적합한 인재를 영입하는데 기여하겠습니다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또한 지식과 기술을 지속적으로 공유하고 전파함으로써 동료들과 함께 성장하는 문화를 이어가도록 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endParaRPr lang="ko-KR" altLang="en-US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145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20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4">
            <a:extLst>
              <a:ext uri="{FF2B5EF4-FFF2-40B4-BE49-F238E27FC236}">
                <a16:creationId xmlns:a16="http://schemas.microsoft.com/office/drawing/2014/main" id="{D5D7A4BF-3356-28F3-42F3-F0987A266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47303"/>
              </p:ext>
            </p:extLst>
          </p:nvPr>
        </p:nvGraphicFramePr>
        <p:xfrm>
          <a:off x="2003950" y="541628"/>
          <a:ext cx="4614564" cy="8840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4564">
                  <a:extLst>
                    <a:ext uri="{9D8B030D-6E8A-4147-A177-3AD203B41FA5}">
                      <a16:colId xmlns:a16="http://schemas.microsoft.com/office/drawing/2014/main" val="360871152"/>
                    </a:ext>
                  </a:extLst>
                </a:gridCol>
              </a:tblGrid>
              <a:tr h="130457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 및 업무 개선에 주도적으로 참여하고 있고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카카오에 적합한 인재 영입을 통해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부서의 성장을 도모하고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파트 내에서 운영 중인 광고사업부문 유닛 리더로서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일정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리소스 할당 뿐 아니라 협력업체 관리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광고사업부문 내 유관부서 협의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OKR(Objectives and Key Results)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선정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및 관리를 함으로써 업무에 대한 체계적인 관리를 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또한 카카오모먼트 자동화 프로세스 도입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오픈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API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 도입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코드 변경사항 관리 추진 등 지속적인 업무 개선에 기여하고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ore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유닛 업무 뿐 아니라 지식과 경험을 십분 활용하여 안드로이드 시스템에 대한 기본 원리 및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ADB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를 활용한 단말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/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앱 제어 방법을 공유하면서 동료들이 함께 성장할 수 있도록 기여하였습니다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또한 구글스프레드 시트를 활용한 테스트 결과 시트 개선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스케줄링 시트 생성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테스트 사업자번호 생성 툴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디바이스 점유율 생성 툴 개발 등 파트 내 여러가지 업무에 대한 효율을 증대 시켰습니다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현재는 카카오 오픈프로세스 수립에 참여함으로써 조직 내 프로세스 개선 업무를 담당하고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ore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구글 모바일스토어 정책 및 이슈를 공유하면서 유관부서와의 커뮤니케이션을 담당하며 앱 배포 및 운영에 차질이 없도록 지원하고 있고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구글플레이콘솔 사용자 계정  보안 강화에도 힘쓰고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ore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마지막으로 인터뷰 과제 선정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공통질문셋 작성 및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1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차 인터뷰어로 역할을 담당하며 인재 영입을 위해 적극적으로 참여하고 있습니다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스테이지 업이 된다면 지금까지의 경험과 지식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스킬을 토대로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 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프로세스와 업무 개선에 정진하고 성숙도 높은 카카오 내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부서가 될 수 있도록 중추적인 역할을 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endParaRPr lang="en-US" altLang="ko-KR" sz="1200" b="0" i="0" dirty="0">
                        <a:latin typeface="KakaoBig OTF" pitchFamily="2" charset="-127"/>
                        <a:ea typeface="KakaoBig OTF" pitchFamily="2" charset="-127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본인 뿐 아니라 주변 동료들의 성장도 도모하고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,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프로세스의 개선점이나 새로운 아이디어를 발굴하고 창의적인 문제 해결을 통해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QA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 업무 체계를 강화함으로써 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Senior Manager / Lead</a:t>
                      </a:r>
                      <a:r>
                        <a:rPr lang="ko-KR" altLang="en-US" sz="1200" b="0" i="0" dirty="0">
                          <a:latin typeface="KakaoBig OTF" pitchFamily="2" charset="-127"/>
                          <a:ea typeface="KakaoBig OTF" pitchFamily="2" charset="-127"/>
                        </a:rPr>
                        <a:t>로서의 역량을 십분 발휘하겠습니다</a:t>
                      </a:r>
                      <a:r>
                        <a:rPr lang="en-US" altLang="ko-KR" sz="1200" b="0" i="0" dirty="0">
                          <a:latin typeface="KakaoBig OTF" pitchFamily="2" charset="-127"/>
                          <a:ea typeface="KakaoBig OTF" pitchFamily="2" charset="-127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3757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D0F895-182F-EE62-0982-F39CDC49222B}"/>
              </a:ext>
            </a:extLst>
          </p:cNvPr>
          <p:cNvSpPr txBox="1"/>
          <p:nvPr/>
        </p:nvSpPr>
        <p:spPr>
          <a:xfrm>
            <a:off x="514912" y="541628"/>
            <a:ext cx="825867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kumimoji="1" lang="ko-KR" altLang="en-US" sz="1400" b="1" dirty="0">
                <a:latin typeface="KakaoBig OTF Bold" pitchFamily="2" charset="-127"/>
                <a:ea typeface="KakaoBig OTF Bold" pitchFamily="2" charset="-127"/>
              </a:rPr>
              <a:t>자기소개</a:t>
            </a:r>
            <a:endParaRPr kumimoji="1" lang="ko-Kore-KR" altLang="en-US" sz="1400" b="1">
              <a:latin typeface="KakaoBig OTF Bold" pitchFamily="2" charset="-127"/>
              <a:ea typeface="KakaoBig OTF Bold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6338B95-9FA9-FAD4-A0D6-F728111D6E83}"/>
              </a:ext>
            </a:extLst>
          </p:cNvPr>
          <p:cNvGrpSpPr/>
          <p:nvPr/>
        </p:nvGrpSpPr>
        <p:grpSpPr>
          <a:xfrm>
            <a:off x="426051" y="441330"/>
            <a:ext cx="6005899" cy="0"/>
            <a:chOff x="401444" y="1929163"/>
            <a:chExt cx="6005899" cy="0"/>
          </a:xfrm>
        </p:grpSpPr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FA642B15-ADF2-8C4A-229E-D6E32A535EF5}"/>
                </a:ext>
              </a:extLst>
            </p:cNvPr>
            <p:cNvCxnSpPr/>
            <p:nvPr/>
          </p:nvCxnSpPr>
          <p:spPr>
            <a:xfrm>
              <a:off x="401444" y="1929163"/>
              <a:ext cx="13716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[R] 5">
              <a:extLst>
                <a:ext uri="{FF2B5EF4-FFF2-40B4-BE49-F238E27FC236}">
                  <a16:creationId xmlns:a16="http://schemas.microsoft.com/office/drawing/2014/main" id="{435164FE-E5E9-407E-6967-086A63AAEB2C}"/>
                </a:ext>
              </a:extLst>
            </p:cNvPr>
            <p:cNvCxnSpPr/>
            <p:nvPr/>
          </p:nvCxnSpPr>
          <p:spPr>
            <a:xfrm>
              <a:off x="1979343" y="1929163"/>
              <a:ext cx="4428000" cy="0"/>
            </a:xfrm>
            <a:prstGeom prst="line">
              <a:avLst/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55631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kumimoji="1" sz="1200" b="1" dirty="0" smtClean="0">
            <a:latin typeface="KakaoBig OTF Bold" pitchFamily="2" charset="-127"/>
            <a:ea typeface="KakaoBig OTF Bold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kumimoji="1" sz="1200" b="1" dirty="0" smtClean="0">
            <a:latin typeface="KakaoBig OTF Bold" pitchFamily="2" charset="-127"/>
            <a:ea typeface="KakaoBig OTF Bold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7536</TotalTime>
  <Words>3246</Words>
  <Application>Microsoft Macintosh PowerPoint</Application>
  <PresentationFormat>A4 용지(210x297mm)</PresentationFormat>
  <Paragraphs>496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KakaoBig OTF</vt:lpstr>
      <vt:lpstr>KakaoBig OTF Bold</vt:lpstr>
      <vt:lpstr>Arial</vt:lpstr>
      <vt:lpstr>Calibri</vt:lpstr>
      <vt:lpstr>Calibri Light</vt:lpstr>
      <vt:lpstr>Roboto</vt:lpstr>
      <vt:lpstr>Roboto Mono Medium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alvin.shin</dc:creator>
  <cp:lastModifiedBy>alvin.shin</cp:lastModifiedBy>
  <cp:revision>80</cp:revision>
  <dcterms:created xsi:type="dcterms:W3CDTF">2022-02-28T05:22:44Z</dcterms:created>
  <dcterms:modified xsi:type="dcterms:W3CDTF">2026-04-06T02:37:54Z</dcterms:modified>
</cp:coreProperties>
</file>